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1" r:id="rId6"/>
    <p:sldId id="270" r:id="rId7"/>
    <p:sldId id="262" r:id="rId8"/>
    <p:sldId id="263" r:id="rId9"/>
    <p:sldId id="264" r:id="rId10"/>
    <p:sldId id="265" r:id="rId11"/>
    <p:sldId id="271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49131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an explainable ML framework for loan default prediction using three public credit datasets. Project report for Data Analytics &amp; Visualisation - 1, guided by K. Swapnika.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Defaults and NPAs threaten bank stability. Existing work focuses on accuracy, but banks need transparent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gaps from the literature: limited datasets, late explainability, performance-interpretability trade-off, and missing decision-support layers.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objectives and four research questions guide the study.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Methodology summary: six steps from data collection to evaluation and explanation, applied to all three datasets.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End-to-end pipeline: data, cleaning and EDA, feature engineering, five models, SHAP and LIME, then a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Datasets are processed separately because attributes, formats and targets differ.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dataset is preprocessed separately. Engineered features capture borrower risk.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Simple-to-complex benchmarking: logistic regression gives an interpretable reference; boosting models are expected to capture non-linear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Results are not yet available; this slide shows the planned results structure. Do not present numbers until experiments are complete.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References as listed in the project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the framework, be upfront that results are pending, and outline next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5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3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9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25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" y="662940"/>
            <a:ext cx="320040" cy="3200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371600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AI-Driven Loan Default Prediction Using Banking Analytics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15468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explainable machine-learning framework across three public credit datasets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84048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Tejasree, B. Sruthi, B. Bhavya Sai Sree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3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Engineering, KLH University, Hyderabad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&amp; Visualisation – 1 (24DSB3101)  |  Guide: </a:t>
            </a:r>
            <a:r>
              <a:rPr lang="en-US" sz="1200" dirty="0" err="1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Dr.K</a:t>
            </a:r>
            <a:r>
              <a:rPr lang="en-US" sz="1200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Swapnika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309360" y="822960"/>
            <a:ext cx="3291840" cy="3291840"/>
          </a:xfrm>
          <a:prstGeom prst="ellipse">
            <a:avLst/>
          </a:prstGeom>
          <a:solidFill>
            <a:srgbClr val="0E7C7B">
              <a:alpha val="30000"/>
            </a:srgbClr>
          </a:solidFill>
          <a:ln w="12700">
            <a:solidFill>
              <a:srgbClr val="0E7C7B">
                <a:alpha val="3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040880" y="1554480"/>
            <a:ext cx="1828800" cy="1828800"/>
          </a:xfrm>
          <a:prstGeom prst="ellipse">
            <a:avLst/>
          </a:prstGeom>
          <a:solidFill>
            <a:srgbClr val="F2A541">
              <a:alpha val="75000"/>
            </a:srgbClr>
          </a:solidFill>
          <a:ln w="12700">
            <a:solidFill>
              <a:srgbClr val="F2A541">
                <a:alpha val="75000"/>
              </a:srgbClr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240" y="2148840"/>
            <a:ext cx="640080" cy="640080"/>
          </a:xfrm>
          <a:prstGeom prst="rect">
            <a:avLst/>
          </a:prstGeom>
        </p:spPr>
      </p:pic>
      <p:pic>
        <p:nvPicPr>
          <p:cNvPr id="11" name="Picture 10" descr="KLH Aziznagar Campus | Leading Engineering College in Hyderabad">
            <a:extLst>
              <a:ext uri="{FF2B5EF4-FFF2-40B4-BE49-F238E27FC236}">
                <a16:creationId xmlns:a16="http://schemas.microsoft.com/office/drawing/2014/main" id="{110061FD-2CCB-279F-EB0A-AB9A1B4753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-1022"/>
            <a:ext cx="1828799" cy="86799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Background &amp; Problem Statement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94360" cy="59436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230" y="1520190"/>
            <a:ext cx="297180" cy="2971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71600" y="123444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Defaults hurt banks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1F3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defaults and NPAs reduce profitability, liquidity and financial stability.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2468880"/>
            <a:ext cx="594360" cy="59436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230" y="2617470"/>
            <a:ext cx="297180" cy="29718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71600" y="233172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Traditional scoring struggles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1F3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Large, complex, imbalanced and fragmented data are hard to handle with scores and manual rules.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548640" y="3566160"/>
            <a:ext cx="594360" cy="59436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7230" y="3714750"/>
            <a:ext cx="297180" cy="29718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371600" y="342900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 is not enough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1F3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decisions must be transparent, so explainable AI (SHAP, LIME) is needed.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5577840" y="1234440"/>
            <a:ext cx="3017520" cy="3200400"/>
          </a:xfrm>
          <a:prstGeom prst="rect">
            <a:avLst/>
          </a:prstGeom>
          <a:solidFill>
            <a:srgbClr val="D9EFEC"/>
          </a:solidFill>
          <a:ln w="12700">
            <a:solidFill>
              <a:srgbClr val="D9EF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8"/>
          <p:cNvSpPr txBox="1"/>
          <p:nvPr/>
        </p:nvSpPr>
        <p:spPr>
          <a:xfrm>
            <a:off x="5852160" y="14630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research problem</a:t>
            </a:r>
            <a:endParaRPr lang="en-US" sz="1700" dirty="0"/>
          </a:p>
        </p:txBody>
      </p:sp>
      <p:sp>
        <p:nvSpPr>
          <p:cNvPr id="14" name="Text 9"/>
          <p:cNvSpPr txBox="1"/>
          <p:nvPr/>
        </p:nvSpPr>
        <p:spPr>
          <a:xfrm>
            <a:off x="5852160" y="1920240"/>
            <a:ext cx="2468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3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an explainable machine-learning framework that predicts loan defaults across multiple credit datasets, with transparent model comparisons and understandable credit-risk insights.</a:t>
            </a:r>
            <a:endParaRPr lang="en-US" sz="1400" dirty="0"/>
          </a:p>
        </p:txBody>
      </p:sp>
      <p:pic>
        <p:nvPicPr>
          <p:cNvPr id="16" name="Picture 15" descr="KLH Aziznagar Campus | Leading Engineering College in Hyderabad">
            <a:extLst>
              <a:ext uri="{FF2B5EF4-FFF2-40B4-BE49-F238E27FC236}">
                <a16:creationId xmlns:a16="http://schemas.microsoft.com/office/drawing/2014/main" id="{D3204C68-5C2C-583B-19A5-D4AF31E7D9F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-1022"/>
            <a:ext cx="1828799" cy="86799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Gap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3931920" cy="1280160"/>
          </a:xfrm>
          <a:prstGeom prst="rect">
            <a:avLst/>
          </a:prstGeom>
          <a:solidFill>
            <a:srgbClr val="D9EFEC"/>
          </a:solidFill>
          <a:ln w="12700">
            <a:solidFill>
              <a:srgbClr val="D9EF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508760"/>
            <a:ext cx="548640" cy="54864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28016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Limited multi-dataset validation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1F3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studies use one or two datasets, which limits generalizability.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663440" y="1143000"/>
            <a:ext cx="3931920" cy="1280160"/>
          </a:xfrm>
          <a:prstGeom prst="rect">
            <a:avLst/>
          </a:prstGeom>
          <a:solidFill>
            <a:srgbClr val="D9EFEC"/>
          </a:solidFill>
          <a:ln w="12700">
            <a:solidFill>
              <a:srgbClr val="D9EF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92040" y="1508760"/>
            <a:ext cx="548640" cy="54864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9204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623560" y="128016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Explainability comes late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1F3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or LIME is often applied only after the final model is chosen.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2560320"/>
            <a:ext cx="3931920" cy="1280160"/>
          </a:xfrm>
          <a:prstGeom prst="rect">
            <a:avLst/>
          </a:prstGeom>
          <a:solidFill>
            <a:srgbClr val="D9EFEC"/>
          </a:solidFill>
          <a:ln w="12700">
            <a:solidFill>
              <a:srgbClr val="D9EF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2926080"/>
            <a:ext cx="548640" cy="54864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2926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269748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vs interpretability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1F3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models tend to be harder to explain.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663440" y="2560320"/>
            <a:ext cx="3931920" cy="1280160"/>
          </a:xfrm>
          <a:prstGeom prst="rect">
            <a:avLst/>
          </a:prstGeom>
          <a:solidFill>
            <a:srgbClr val="D9EFEC"/>
          </a:solidFill>
          <a:ln w="12700">
            <a:solidFill>
              <a:srgbClr val="D9EF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92040" y="2926080"/>
            <a:ext cx="548640" cy="54864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92040" y="2926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623560" y="269748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Little decision support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1F3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and visual credit-risk insights are rarely provided.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8640" y="4023360"/>
            <a:ext cx="8046720" cy="640080"/>
          </a:xfrm>
          <a:prstGeom prst="rect">
            <a:avLst/>
          </a:prstGeom>
          <a:solidFill>
            <a:srgbClr val="D9EFEC"/>
          </a:solidFill>
          <a:ln w="12700">
            <a:solidFill>
              <a:srgbClr val="D9EFE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402336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answer:  </a:t>
            </a:r>
            <a:r>
              <a:rPr lang="en-US" sz="1600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datasets  +  5 models  +  SHAP &amp; LIME  +  visualization dashboard</a:t>
            </a:r>
            <a:endParaRPr lang="en-US" sz="1600" dirty="0"/>
          </a:p>
        </p:txBody>
      </p:sp>
      <p:pic>
        <p:nvPicPr>
          <p:cNvPr id="22" name="Picture 21" descr="KLH Aziznagar Campus | Leading Engineering College in Hyderabad">
            <a:extLst>
              <a:ext uri="{FF2B5EF4-FFF2-40B4-BE49-F238E27FC236}">
                <a16:creationId xmlns:a16="http://schemas.microsoft.com/office/drawing/2014/main" id="{0258E893-FE6F-AC14-48D4-475C5A06EA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-1022"/>
            <a:ext cx="1828799" cy="86799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 &amp; Research Questions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393192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E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77240" y="12344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77240" y="1746504"/>
            <a:ext cx="365760" cy="36576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7465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69164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3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default-prediction framework with preprocessing, EDA and risk-aware features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77240" y="2313432"/>
            <a:ext cx="365760" cy="36576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23134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258568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3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five ML models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77240" y="2880360"/>
            <a:ext cx="365760" cy="36576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2880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2825496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3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on three public credit datasets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77240" y="3447288"/>
            <a:ext cx="365760" cy="36576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34472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3392424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3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with Accuracy, Precision, Recall, F1, ROC-AUC, plus SHAP and LIME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77240" y="4014216"/>
            <a:ext cx="365760" cy="36576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40142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395935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3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dashboard for risk insights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63440" y="1097280"/>
            <a:ext cx="3931920" cy="3520440"/>
          </a:xfrm>
          <a:prstGeom prst="rect">
            <a:avLst/>
          </a:prstGeom>
          <a:solidFill>
            <a:srgbClr val="D9EFEC"/>
          </a:solidFill>
          <a:ln w="12700">
            <a:solidFill>
              <a:srgbClr val="D9EF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4892040" y="12344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questions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4892040" y="173736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RQ1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5577840" y="173736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3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the five models compare across datasets?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892040" y="245059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RQ2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5577840" y="2450592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3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model best balances performance and interpretability?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4892040" y="3163824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RQ3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5577840" y="3163824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3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consistent are results and key features across datasets?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4892040" y="3877056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RQ4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5577840" y="3877056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3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explanations and visuals support credit-risk decisions?</a:t>
            </a:r>
            <a:endParaRPr lang="en-US" sz="1300" dirty="0"/>
          </a:p>
        </p:txBody>
      </p:sp>
      <p:pic>
        <p:nvPicPr>
          <p:cNvPr id="31" name="Picture 30" descr="KLH Aziznagar Campus | Leading Engineering College in Hyderabad">
            <a:extLst>
              <a:ext uri="{FF2B5EF4-FFF2-40B4-BE49-F238E27FC236}">
                <a16:creationId xmlns:a16="http://schemas.microsoft.com/office/drawing/2014/main" id="{72C44556-6728-BD61-4B88-35AA809961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-1022"/>
            <a:ext cx="1828799" cy="86799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steps, applied identically to each dataset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560320" cy="1554480"/>
          </a:xfrm>
          <a:prstGeom prst="rect">
            <a:avLst/>
          </a:prstGeom>
          <a:solidFill>
            <a:srgbClr val="D9EFEC"/>
          </a:solidFill>
          <a:ln w="12700">
            <a:solidFill>
              <a:srgbClr val="D9EF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536192"/>
            <a:ext cx="411480" cy="41148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5361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53619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collection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0574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3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Lending Club, Statlog German Credit and Home Credit, each processed separately.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371600"/>
            <a:ext cx="2560320" cy="1554480"/>
          </a:xfrm>
          <a:prstGeom prst="rect">
            <a:avLst/>
          </a:prstGeom>
          <a:solidFill>
            <a:srgbClr val="D9EFEC"/>
          </a:solidFill>
          <a:ln w="12700">
            <a:solidFill>
              <a:srgbClr val="D9EF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0" y="1536192"/>
            <a:ext cx="411480" cy="41148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74720" y="15361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023360" y="153619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20574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3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values, duplicates, encoding, outliers, class imbalance (SMOTE or weights), scaling.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35040" y="1371600"/>
            <a:ext cx="2560320" cy="1554480"/>
          </a:xfrm>
          <a:prstGeom prst="rect">
            <a:avLst/>
          </a:prstGeom>
          <a:solidFill>
            <a:srgbClr val="D9EFEC"/>
          </a:solidFill>
          <a:ln w="12700">
            <a:solidFill>
              <a:srgbClr val="D9EF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0" y="1536192"/>
            <a:ext cx="411480" cy="41148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17920" y="15361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766560" y="153619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analysis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0" y="20574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3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12+ analytical techniques to understand distributions and default patterns.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063240"/>
            <a:ext cx="2560320" cy="1554480"/>
          </a:xfrm>
          <a:prstGeom prst="rect">
            <a:avLst/>
          </a:prstGeom>
          <a:solidFill>
            <a:srgbClr val="D9EFEC"/>
          </a:solidFill>
          <a:ln w="12700">
            <a:solidFill>
              <a:srgbClr val="D9EF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3227832"/>
            <a:ext cx="411480" cy="41148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" y="32278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322783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37490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3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Risk-aware features: debt-to-income ratio, credit utilization, repayment consistency.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91840" y="3063240"/>
            <a:ext cx="2560320" cy="1554480"/>
          </a:xfrm>
          <a:prstGeom prst="rect">
            <a:avLst/>
          </a:prstGeom>
          <a:solidFill>
            <a:srgbClr val="D9EFEC"/>
          </a:solidFill>
          <a:ln w="12700">
            <a:solidFill>
              <a:srgbClr val="D9EF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3227832"/>
            <a:ext cx="411480" cy="41148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474720" y="32278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4023360" y="322783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training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3474720" y="37490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3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Regression, Decision Tree, Random Forest, XGBoost, CatBoost with stratified split; tuning on training data only.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035040" y="3063240"/>
            <a:ext cx="2560320" cy="1554480"/>
          </a:xfrm>
          <a:prstGeom prst="rect">
            <a:avLst/>
          </a:prstGeom>
          <a:solidFill>
            <a:srgbClr val="D9EFEC"/>
          </a:solidFill>
          <a:ln w="12700">
            <a:solidFill>
              <a:srgbClr val="D9EFE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17920" y="3227832"/>
            <a:ext cx="411480" cy="41148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217920" y="32278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6766560" y="322783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&amp; explanation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6217920" y="37490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3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Precision, Recall, F1, ROC-AUC; SHAP and LIME; results shown in a dashboard.</a:t>
            </a:r>
            <a:endParaRPr lang="en-US" sz="1200" dirty="0"/>
          </a:p>
        </p:txBody>
      </p:sp>
      <p:pic>
        <p:nvPicPr>
          <p:cNvPr id="35" name="Picture 34" descr="KLH Aziznagar Campus | Leading Engineering College in Hyderabad">
            <a:extLst>
              <a:ext uri="{FF2B5EF4-FFF2-40B4-BE49-F238E27FC236}">
                <a16:creationId xmlns:a16="http://schemas.microsoft.com/office/drawing/2014/main" id="{5A2030AF-CB02-A408-17B8-0B13114B94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-1022"/>
            <a:ext cx="1828799" cy="86799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FB3A843-E343-78D4-CBAD-2E65C8DB2F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1664" y="757391"/>
            <a:ext cx="4260672" cy="432267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4410FE6-B9B2-EA7A-16DE-F832FF53A1FD}"/>
              </a:ext>
            </a:extLst>
          </p:cNvPr>
          <p:cNvSpPr txBox="1"/>
          <p:nvPr/>
        </p:nvSpPr>
        <p:spPr>
          <a:xfrm>
            <a:off x="672175" y="172616"/>
            <a:ext cx="37472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/>
              <a:t>SYSTEM WORK FLOW</a:t>
            </a:r>
          </a:p>
        </p:txBody>
      </p:sp>
      <p:pic>
        <p:nvPicPr>
          <p:cNvPr id="6" name="Picture 5" descr="KLH Aziznagar Campus | Leading Engineering College in Hyderabad">
            <a:extLst>
              <a:ext uri="{FF2B5EF4-FFF2-40B4-BE49-F238E27FC236}">
                <a16:creationId xmlns:a16="http://schemas.microsoft.com/office/drawing/2014/main" id="{8C08B243-9AB5-F64C-27A9-FB3D05CF6F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-1022"/>
            <a:ext cx="1828799" cy="867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793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Framework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45820" y="1234440"/>
            <a:ext cx="594360" cy="59436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410" y="1383030"/>
            <a:ext cx="297180" cy="2971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440180" y="1531620"/>
            <a:ext cx="777240" cy="0"/>
          </a:xfrm>
          <a:prstGeom prst="line">
            <a:avLst/>
          </a:prstGeom>
          <a:noFill/>
          <a:ln w="19050">
            <a:solidFill>
              <a:srgbClr val="9FBFBE"/>
            </a:solidFill>
            <a:prstDash val="dash"/>
          </a:ln>
        </p:spPr>
      </p:sp>
      <p:sp>
        <p:nvSpPr>
          <p:cNvPr id="6" name="Text 3"/>
          <p:cNvSpPr txBox="1"/>
          <p:nvPr/>
        </p:nvSpPr>
        <p:spPr>
          <a:xfrm>
            <a:off x="548640" y="19659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Datasets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514600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Lending Club, German Credit, Home Credit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217420" y="1234440"/>
            <a:ext cx="594360" cy="59436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6010" y="1383030"/>
            <a:ext cx="297180" cy="29718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811780" y="1531620"/>
            <a:ext cx="777240" cy="0"/>
          </a:xfrm>
          <a:prstGeom prst="line">
            <a:avLst/>
          </a:prstGeom>
          <a:noFill/>
          <a:ln w="19050">
            <a:solidFill>
              <a:srgbClr val="9FBFBE"/>
            </a:solidFill>
            <a:prstDash val="dash"/>
          </a:ln>
        </p:spPr>
      </p:sp>
      <p:sp>
        <p:nvSpPr>
          <p:cNvPr id="11" name="Text 7"/>
          <p:cNvSpPr txBox="1"/>
          <p:nvPr/>
        </p:nvSpPr>
        <p:spPr>
          <a:xfrm>
            <a:off x="1920240" y="19659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 &amp; EDA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1920240" y="2514600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plus 12+ analytical techniques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3589020" y="1234440"/>
            <a:ext cx="594360" cy="59436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37610" y="1383030"/>
            <a:ext cx="297180" cy="29718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4183380" y="1531620"/>
            <a:ext cx="777240" cy="0"/>
          </a:xfrm>
          <a:prstGeom prst="line">
            <a:avLst/>
          </a:prstGeom>
          <a:noFill/>
          <a:ln w="19050">
            <a:solidFill>
              <a:srgbClr val="9FBFBE"/>
            </a:solidFill>
            <a:prstDash val="dash"/>
          </a:ln>
        </p:spPr>
      </p:sp>
      <p:sp>
        <p:nvSpPr>
          <p:cNvPr id="16" name="Text 11"/>
          <p:cNvSpPr txBox="1"/>
          <p:nvPr/>
        </p:nvSpPr>
        <p:spPr>
          <a:xfrm>
            <a:off x="3291840" y="19659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3291840" y="2514600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DTI, credit utilization, repayment consistency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960620" y="1234440"/>
            <a:ext cx="594360" cy="59436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09210" y="1383030"/>
            <a:ext cx="297180" cy="29718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5554980" y="1531620"/>
            <a:ext cx="777240" cy="0"/>
          </a:xfrm>
          <a:prstGeom prst="line">
            <a:avLst/>
          </a:prstGeom>
          <a:noFill/>
          <a:ln w="19050">
            <a:solidFill>
              <a:srgbClr val="9FBFBE"/>
            </a:solidFill>
            <a:prstDash val="dash"/>
          </a:ln>
        </p:spPr>
      </p:sp>
      <p:sp>
        <p:nvSpPr>
          <p:cNvPr id="21" name="Text 15"/>
          <p:cNvSpPr txBox="1"/>
          <p:nvPr/>
        </p:nvSpPr>
        <p:spPr>
          <a:xfrm>
            <a:off x="4663440" y="19659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training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4663440" y="2514600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models compared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6332220" y="1234440"/>
            <a:ext cx="594360" cy="59436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80810" y="1383030"/>
            <a:ext cx="297180" cy="297180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6926580" y="1531620"/>
            <a:ext cx="777240" cy="0"/>
          </a:xfrm>
          <a:prstGeom prst="line">
            <a:avLst/>
          </a:prstGeom>
          <a:noFill/>
          <a:ln w="19050">
            <a:solidFill>
              <a:srgbClr val="9FBFBE"/>
            </a:solidFill>
            <a:prstDash val="dash"/>
          </a:ln>
        </p:spPr>
      </p:sp>
      <p:sp>
        <p:nvSpPr>
          <p:cNvPr id="26" name="Text 19"/>
          <p:cNvSpPr txBox="1"/>
          <p:nvPr/>
        </p:nvSpPr>
        <p:spPr>
          <a:xfrm>
            <a:off x="6035040" y="19659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Explainability</a:t>
            </a:r>
            <a:endParaRPr lang="en-US" sz="1300" dirty="0"/>
          </a:p>
        </p:txBody>
      </p:sp>
      <p:sp>
        <p:nvSpPr>
          <p:cNvPr id="27" name="Text 20"/>
          <p:cNvSpPr txBox="1"/>
          <p:nvPr/>
        </p:nvSpPr>
        <p:spPr>
          <a:xfrm>
            <a:off x="6035040" y="2514600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(global) and LIME (local)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7703820" y="1234440"/>
            <a:ext cx="594360" cy="59436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52410" y="1383030"/>
            <a:ext cx="297180" cy="297180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7406640" y="19659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31" name="Text 23"/>
          <p:cNvSpPr txBox="1"/>
          <p:nvPr/>
        </p:nvSpPr>
        <p:spPr>
          <a:xfrm>
            <a:off x="7406640" y="2514600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and risk insights</a:t>
            </a:r>
            <a:endParaRPr lang="en-US" sz="1100" dirty="0"/>
          </a:p>
        </p:txBody>
      </p:sp>
      <p:sp>
        <p:nvSpPr>
          <p:cNvPr id="32" name="Shape 24"/>
          <p:cNvSpPr/>
          <p:nvPr/>
        </p:nvSpPr>
        <p:spPr>
          <a:xfrm>
            <a:off x="548640" y="3566160"/>
            <a:ext cx="80467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E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25"/>
          <p:cNvSpPr/>
          <p:nvPr/>
        </p:nvSpPr>
        <p:spPr>
          <a:xfrm>
            <a:off x="777240" y="3794760"/>
            <a:ext cx="594360" cy="59436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5830" y="3943350"/>
            <a:ext cx="297180" cy="297180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1600200" y="3611880"/>
            <a:ext cx="6858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common pipeline for every dataset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1F3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with Accuracy, Precision, Recall, F1-score and ROC-AUC.</a:t>
            </a:r>
            <a:endParaRPr lang="en-US" sz="1600" dirty="0"/>
          </a:p>
        </p:txBody>
      </p:sp>
      <p:pic>
        <p:nvPicPr>
          <p:cNvPr id="37" name="Picture 36" descr="KLH Aziznagar Campus | Leading Engineering College in Hyderabad">
            <a:extLst>
              <a:ext uri="{FF2B5EF4-FFF2-40B4-BE49-F238E27FC236}">
                <a16:creationId xmlns:a16="http://schemas.microsoft.com/office/drawing/2014/main" id="{4987209E-4491-EA50-ABF1-3C791E43C19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15200" y="-1022"/>
            <a:ext cx="1828799" cy="86799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2560320" cy="2788920"/>
          </a:xfrm>
          <a:prstGeom prst="rect">
            <a:avLst/>
          </a:prstGeom>
          <a:solidFill>
            <a:srgbClr val="D9EFEC"/>
          </a:solidFill>
          <a:ln w="12700">
            <a:solidFill>
              <a:srgbClr val="D9EF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371600"/>
            <a:ext cx="548640" cy="54864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50876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3716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Lending Club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1031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Public loan data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42316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3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Borrower and loan information for consumer loan repayment and default risk.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29184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Large-scale consumer lending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91840" y="1188720"/>
            <a:ext cx="2560320" cy="2788920"/>
          </a:xfrm>
          <a:prstGeom prst="rect">
            <a:avLst/>
          </a:prstGeom>
          <a:solidFill>
            <a:srgbClr val="D9EFEC"/>
          </a:solidFill>
          <a:ln w="12700">
            <a:solidFill>
              <a:srgbClr val="D9EF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520440" y="1371600"/>
            <a:ext cx="548640" cy="54864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150876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206240" y="13716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Statlog German Credit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3520440" y="21031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UCI ML Repository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3520440" y="242316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3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Borrower financial and credit attributes with a credit-risk label.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3520440" y="329184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Classical benchmark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035040" y="1188720"/>
            <a:ext cx="2560320" cy="2788920"/>
          </a:xfrm>
          <a:prstGeom prst="rect">
            <a:avLst/>
          </a:prstGeom>
          <a:solidFill>
            <a:srgbClr val="D9EFEC"/>
          </a:solidFill>
          <a:ln w="12700">
            <a:solidFill>
              <a:srgbClr val="D9EFEC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263640" y="1371600"/>
            <a:ext cx="548640" cy="54864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1508760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949440" y="13716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 Credit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6263640" y="21031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Public dataset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6263640" y="242316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3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Consumer-finance data for predicting repayment difficulties.</a:t>
            </a:r>
            <a:endParaRPr lang="en-US" sz="1300" dirty="0"/>
          </a:p>
        </p:txBody>
      </p:sp>
      <p:sp>
        <p:nvSpPr>
          <p:cNvPr id="23" name="Text 18"/>
          <p:cNvSpPr txBox="1"/>
          <p:nvPr/>
        </p:nvSpPr>
        <p:spPr>
          <a:xfrm>
            <a:off x="6263640" y="329184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Different risk setting; compares with prior work</a:t>
            </a:r>
            <a:endParaRPr lang="en-US" sz="1200" dirty="0"/>
          </a:p>
        </p:txBody>
      </p:sp>
      <p:sp>
        <p:nvSpPr>
          <p:cNvPr id="24" name="Text 19"/>
          <p:cNvSpPr txBox="1"/>
          <p:nvPr/>
        </p:nvSpPr>
        <p:spPr>
          <a:xfrm>
            <a:off x="627363" y="41605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3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go through the same preprocessing, modelling, evaluation and explainability pipeline, which addresses the single-dataset limitation.</a:t>
            </a:r>
            <a:endParaRPr lang="en-US" sz="1400" dirty="0"/>
          </a:p>
        </p:txBody>
      </p:sp>
      <p:pic>
        <p:nvPicPr>
          <p:cNvPr id="26" name="Picture 25" descr="KLH Aziznagar Campus | Leading Engineering College in Hyderabad">
            <a:extLst>
              <a:ext uri="{FF2B5EF4-FFF2-40B4-BE49-F238E27FC236}">
                <a16:creationId xmlns:a16="http://schemas.microsoft.com/office/drawing/2014/main" id="{151B9FAA-1958-E7AD-842C-87994D3D1BE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-1022"/>
            <a:ext cx="1828799" cy="86799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 &amp; Feature Engineering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600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E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371600"/>
            <a:ext cx="457200" cy="45720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" y="1485900"/>
            <a:ext cx="228600" cy="228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1920240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Missing values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Imputation or removal per variable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2286000" y="1188720"/>
            <a:ext cx="1600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E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468880" y="1371600"/>
            <a:ext cx="457200" cy="45720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3180" y="1485900"/>
            <a:ext cx="228600" cy="2286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468880" y="1920240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quality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 and inconsistent entries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023360" y="1188720"/>
            <a:ext cx="1600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E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206240" y="1371600"/>
            <a:ext cx="457200" cy="45720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0540" y="1485900"/>
            <a:ext cx="228600" cy="2286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206240" y="1920240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Encoding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 to numeric form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548640" y="2880360"/>
            <a:ext cx="1600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E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731520" y="3063240"/>
            <a:ext cx="457200" cy="45720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820" y="3177540"/>
            <a:ext cx="228600" cy="22860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31520" y="3611880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Outliers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extreme values</a:t>
            </a:r>
            <a:endParaRPr lang="en-US" sz="1400" dirty="0"/>
          </a:p>
        </p:txBody>
      </p:sp>
      <p:sp>
        <p:nvSpPr>
          <p:cNvPr id="19" name="Shape 13"/>
          <p:cNvSpPr/>
          <p:nvPr/>
        </p:nvSpPr>
        <p:spPr>
          <a:xfrm>
            <a:off x="2286000" y="2880360"/>
            <a:ext cx="1600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E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2468880" y="3063240"/>
            <a:ext cx="457200" cy="45720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83180" y="3177540"/>
            <a:ext cx="228600" cy="22860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2468880" y="3611880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imbalance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or class weights</a:t>
            </a:r>
            <a:endParaRPr lang="en-US" sz="1400" dirty="0"/>
          </a:p>
        </p:txBody>
      </p:sp>
      <p:sp>
        <p:nvSpPr>
          <p:cNvPr id="23" name="Shape 16"/>
          <p:cNvSpPr/>
          <p:nvPr/>
        </p:nvSpPr>
        <p:spPr>
          <a:xfrm>
            <a:off x="4023360" y="2880360"/>
            <a:ext cx="1600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E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17"/>
          <p:cNvSpPr/>
          <p:nvPr/>
        </p:nvSpPr>
        <p:spPr>
          <a:xfrm>
            <a:off x="4206240" y="3063240"/>
            <a:ext cx="457200" cy="45720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20540" y="3177540"/>
            <a:ext cx="228600" cy="22860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4206240" y="3611880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Scaling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magnitude-sensitive models</a:t>
            </a:r>
            <a:endParaRPr lang="en-US" sz="1400" dirty="0"/>
          </a:p>
        </p:txBody>
      </p:sp>
      <p:sp>
        <p:nvSpPr>
          <p:cNvPr id="27" name="Shape 19"/>
          <p:cNvSpPr/>
          <p:nvPr/>
        </p:nvSpPr>
        <p:spPr>
          <a:xfrm>
            <a:off x="5943600" y="1188720"/>
            <a:ext cx="2651760" cy="3246120"/>
          </a:xfrm>
          <a:prstGeom prst="rect">
            <a:avLst/>
          </a:prstGeom>
          <a:solidFill>
            <a:srgbClr val="D9EFEC"/>
          </a:solidFill>
          <a:ln w="12700">
            <a:solidFill>
              <a:srgbClr val="D9EF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Text 20"/>
          <p:cNvSpPr txBox="1"/>
          <p:nvPr/>
        </p:nvSpPr>
        <p:spPr>
          <a:xfrm>
            <a:off x="6172200" y="1371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Risk-aware features</a:t>
            </a:r>
            <a:endParaRPr lang="en-US" sz="1700" dirty="0"/>
          </a:p>
        </p:txBody>
      </p:sp>
      <p:sp>
        <p:nvSpPr>
          <p:cNvPr id="29" name="Text 21"/>
          <p:cNvSpPr txBox="1"/>
          <p:nvPr/>
        </p:nvSpPr>
        <p:spPr>
          <a:xfrm>
            <a:off x="6172200" y="187452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3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Debt-to-income ratio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3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utilization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3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Repayment consistency</a:t>
            </a:r>
            <a:endParaRPr lang="en-US" sz="1400" dirty="0"/>
          </a:p>
        </p:txBody>
      </p:sp>
      <p:sp>
        <p:nvSpPr>
          <p:cNvPr id="30" name="Text 22"/>
          <p:cNvSpPr txBox="1"/>
          <p:nvPr/>
        </p:nvSpPr>
        <p:spPr>
          <a:xfrm>
            <a:off x="6172200" y="32004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12+ EDA techniques guide encoding and imbalance decisions before modelling.</a:t>
            </a:r>
            <a:endParaRPr lang="en-US" sz="1200" dirty="0"/>
          </a:p>
        </p:txBody>
      </p:sp>
      <p:pic>
        <p:nvPicPr>
          <p:cNvPr id="32" name="Picture 31" descr="KLH Aziznagar Campus | Leading Engineering College in Hyderabad">
            <a:extLst>
              <a:ext uri="{FF2B5EF4-FFF2-40B4-BE49-F238E27FC236}">
                <a16:creationId xmlns:a16="http://schemas.microsoft.com/office/drawing/2014/main" id="{ACBAB7F9-3B8D-425F-8170-386DBFE3437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15200" y="-1022"/>
            <a:ext cx="1828799" cy="86799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Models: Simple to Complex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07008"/>
            <a:ext cx="457200" cy="457200"/>
          </a:xfrm>
          <a:prstGeom prst="ellipse">
            <a:avLst/>
          </a:prstGeom>
          <a:solidFill>
            <a:srgbClr val="9FD3CE"/>
          </a:solidFill>
          <a:ln w="12700">
            <a:solidFill>
              <a:srgbClr val="9FD3C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07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14300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 Regression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3017520" y="11430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3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 baseline for binary default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892808"/>
            <a:ext cx="457200" cy="457200"/>
          </a:xfrm>
          <a:prstGeom prst="ellipse">
            <a:avLst/>
          </a:prstGeom>
          <a:solidFill>
            <a:srgbClr val="6FBDB6"/>
          </a:solidFill>
          <a:ln w="12700">
            <a:solidFill>
              <a:srgbClr val="6FBDB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892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182880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Tree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017520" y="18288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3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rule-based benchmark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578608"/>
            <a:ext cx="457200" cy="457200"/>
          </a:xfrm>
          <a:prstGeom prst="ellipse">
            <a:avLst/>
          </a:prstGeom>
          <a:solidFill>
            <a:srgbClr val="3FA6A0"/>
          </a:solidFill>
          <a:ln w="12700">
            <a:solidFill>
              <a:srgbClr val="3FA6A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2578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251460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017520" y="25146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3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ensemble for complex relationships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264408"/>
            <a:ext cx="457200" cy="45720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264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320040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XGBoost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017520" y="32004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3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for non-linear patterns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950208"/>
            <a:ext cx="457200" cy="457200"/>
          </a:xfrm>
          <a:prstGeom prst="ellipse">
            <a:avLst/>
          </a:prstGeom>
          <a:solidFill>
            <a:srgbClr val="0A5F5E"/>
          </a:solidFill>
          <a:ln w="12700">
            <a:solidFill>
              <a:srgbClr val="0A5F5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3950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388620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CatBoost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3017520" y="38862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3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Boosting with strong categorical handling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577840" y="1143000"/>
            <a:ext cx="3017520" cy="3337560"/>
          </a:xfrm>
          <a:prstGeom prst="rect">
            <a:avLst/>
          </a:prstGeom>
          <a:solidFill>
            <a:srgbClr val="D9EFEC"/>
          </a:solidFill>
          <a:ln w="12700">
            <a:solidFill>
              <a:srgbClr val="D9EF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5806440" y="13258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 formulation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5806440" y="182880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400" i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P(Y=1 | X) = 1 / (1 + e^(−z))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i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 = β0 + β1X1 + … + βnXn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806440" y="31089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Y: default outcome. X1…Xn: input features. β: model parameters.</a:t>
            </a:r>
            <a:endParaRPr lang="en-US" sz="1200" dirty="0"/>
          </a:p>
        </p:txBody>
      </p:sp>
      <p:pic>
        <p:nvPicPr>
          <p:cNvPr id="28" name="Picture 27" descr="KLH Aziznagar Campus | Leading Engineering College in Hyderabad">
            <a:extLst>
              <a:ext uri="{FF2B5EF4-FFF2-40B4-BE49-F238E27FC236}">
                <a16:creationId xmlns:a16="http://schemas.microsoft.com/office/drawing/2014/main" id="{C6907032-3B41-CA1F-3B7B-1C05432070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-1022"/>
            <a:ext cx="1828799" cy="86799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55DF6D5-4D3A-7ADE-EC04-8543DAFF96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4613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Explainability &amp; Results Plan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8046720" cy="384048"/>
          </a:xfrm>
          <a:prstGeom prst="roundRect">
            <a:avLst>
              <a:gd name="adj" fmla="val 23810"/>
            </a:avLst>
          </a:prstGeom>
          <a:solidFill>
            <a:srgbClr val="FCEBCB"/>
          </a:solidFill>
          <a:ln w="12700">
            <a:solidFill>
              <a:srgbClr val="FCEBC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05156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methodology and evaluation stage. Confirmed results will follow implementation and testing.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5120640" cy="2304288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Model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Accuracy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Precision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Recall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ROC-AUC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3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B72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B72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B72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B72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B72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3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B72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B72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B72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B72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B72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3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B72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B72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B72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B72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B72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3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B72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B72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B72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B72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B72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3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CatBoost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B72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B72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B72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B72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B72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40690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comparison, repeated for each of the three datasets. Values to be filled after testing.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943600" y="1719072"/>
            <a:ext cx="457200" cy="45720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7900" y="1833372"/>
            <a:ext cx="228600" cy="2286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537960" y="164592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SHAP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feature importance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5943600" y="2450592"/>
            <a:ext cx="457200" cy="45720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7900" y="2564892"/>
            <a:ext cx="228600" cy="22860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6537960" y="237744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LIME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individual predictions</a:t>
            </a:r>
            <a:endParaRPr lang="en-US" sz="1400" dirty="0"/>
          </a:p>
        </p:txBody>
      </p:sp>
      <p:sp>
        <p:nvSpPr>
          <p:cNvPr id="5" name="Shape 8"/>
          <p:cNvSpPr/>
          <p:nvPr/>
        </p:nvSpPr>
        <p:spPr>
          <a:xfrm>
            <a:off x="5943600" y="3182112"/>
            <a:ext cx="457200" cy="45720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7900" y="3296412"/>
            <a:ext cx="228600" cy="22860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6537960" y="310896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Confusion matrix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missed defaults (false negatives)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5943600" y="3913632"/>
            <a:ext cx="457200" cy="45720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57900" y="4027932"/>
            <a:ext cx="228600" cy="22860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6537960" y="384048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Performance, features, risk insights</a:t>
            </a:r>
            <a:endParaRPr lang="en-US" sz="1400" dirty="0"/>
          </a:p>
        </p:txBody>
      </p:sp>
      <p:pic>
        <p:nvPicPr>
          <p:cNvPr id="20" name="Picture 19" descr="KLH Aziznagar Campus | Leading Engineering College in Hyderabad">
            <a:extLst>
              <a:ext uri="{FF2B5EF4-FFF2-40B4-BE49-F238E27FC236}">
                <a16:creationId xmlns:a16="http://schemas.microsoft.com/office/drawing/2014/main" id="{A8ED211E-EF28-CBCB-5055-AB9E49BAD40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0" y="-1022"/>
            <a:ext cx="1828799" cy="86799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411480" cy="41148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34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143000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3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Aruleba and Y. Sun, "Effective Credit Risk Prediction Using Ensemble Classifiers With Model Explanation," IEEE Access, vol. 12, pp. 115015–115025, 2024.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411480" cy="41148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920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828800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3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Zhu et al., "Ensemble Methodology: Innovations in Credit Default Prediction Using LightGBM, XGBoost, and LocalEnsemble," IEEE ICETCI, 2024.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606040"/>
            <a:ext cx="411480" cy="41148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606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514600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3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Vihurskyi, "Credit Card Fraud Detection with XAI: Improving Interpretability and Trust," IEEE ICDCECE, 2024.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291840"/>
            <a:ext cx="411480" cy="41148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291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200400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3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 D. Hartomo, C. Arthur, and Y. Nataliani, "A Novel Weighted Loss TabTransformer Integrating Explainable AI for Imbalanced Credit Risk Datasets," IEEE Access, vol. 13, 2025.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977640"/>
            <a:ext cx="411480" cy="41148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977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3886200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3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X. Cai, W. Dai, and J. Lu, "Loan Default Prediction Based on Machine Learning Approaches," ACM GAIIS, 2025.</a:t>
            </a:r>
            <a:endParaRPr lang="en-US" sz="1200" dirty="0"/>
          </a:p>
        </p:txBody>
      </p:sp>
      <p:pic>
        <p:nvPicPr>
          <p:cNvPr id="19" name="Picture 18" descr="KLH Aziznagar Campus | Leading Engineering College in Hyderabad">
            <a:extLst>
              <a:ext uri="{FF2B5EF4-FFF2-40B4-BE49-F238E27FC236}">
                <a16:creationId xmlns:a16="http://schemas.microsoft.com/office/drawing/2014/main" id="{FCD38C7D-3E3A-1DE3-5623-0ABC215495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-1022"/>
            <a:ext cx="1828799" cy="86799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Conclusion, Limitations &amp; Future Work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2560320" cy="3063240"/>
          </a:xfrm>
          <a:prstGeom prst="rect">
            <a:avLst/>
          </a:prstGeom>
          <a:solidFill>
            <a:srgbClr val="D9EFEC"/>
          </a:solidFill>
          <a:ln w="12700">
            <a:solidFill>
              <a:srgbClr val="D9EFE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3258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28800"/>
            <a:ext cx="21031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F3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framework combines predictive modelling, multi-dataset evaluation, SHAP and LIME explainability, and a visualization dashboard for transparent credit-risk decision support.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91840" y="1188720"/>
            <a:ext cx="2560320" cy="3063240"/>
          </a:xfrm>
          <a:prstGeom prst="rect">
            <a:avLst/>
          </a:prstGeom>
          <a:solidFill>
            <a:srgbClr val="D9EFEC"/>
          </a:solidFill>
          <a:ln w="12700">
            <a:solidFill>
              <a:srgbClr val="D9EF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20440" y="13258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3520440" y="1828800"/>
            <a:ext cx="21031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3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results not yet available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3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datasets differ in structure and variables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3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depend on preprocessing and imbalance handling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3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not represent every real-world bank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35040" y="1188720"/>
            <a:ext cx="2560320" cy="3063240"/>
          </a:xfrm>
          <a:prstGeom prst="rect">
            <a:avLst/>
          </a:prstGeom>
          <a:solidFill>
            <a:srgbClr val="D9EFEC"/>
          </a:solidFill>
          <a:ln w="12700">
            <a:solidFill>
              <a:srgbClr val="D9EF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63640" y="13258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1828800"/>
            <a:ext cx="21031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3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and evaluate five models on three datasets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3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SHAP and LIME analysis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3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visualization dashboard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3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and report final results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434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|  Questions?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852160" y="4434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by K. Swapnika</a:t>
            </a:r>
            <a:endParaRPr lang="en-US" sz="1200" dirty="0"/>
          </a:p>
        </p:txBody>
      </p:sp>
      <p:pic>
        <p:nvPicPr>
          <p:cNvPr id="15" name="Picture 14" descr="KLH Aziznagar Campus | Leading Engineering College in Hyderabad">
            <a:extLst>
              <a:ext uri="{FF2B5EF4-FFF2-40B4-BE49-F238E27FC236}">
                <a16:creationId xmlns:a16="http://schemas.microsoft.com/office/drawing/2014/main" id="{DB64A0FB-2C25-030F-906C-548FEA4806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-1022"/>
            <a:ext cx="1828799" cy="86799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447</TotalTime>
  <Words>1320</Words>
  <Application>Microsoft Office PowerPoint</Application>
  <PresentationFormat>On-screen Show (16:9)</PresentationFormat>
  <Paragraphs>234</Paragraphs>
  <Slides>14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AI-Driven Loan Default Prediction Using Banking Analytics</dc:title>
  <dc:subject>PptxGenJS Presentation</dc:subject>
  <dc:creator>PptxGenJS</dc:creator>
  <cp:lastModifiedBy>Sruthi Bhatraju</cp:lastModifiedBy>
  <cp:revision>3</cp:revision>
  <dcterms:created xsi:type="dcterms:W3CDTF">2026-09-19T05:28:35Z</dcterms:created>
  <dcterms:modified xsi:type="dcterms:W3CDTF">2026-09-23T03:15:04Z</dcterms:modified>
</cp:coreProperties>
</file>