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3566160"/>
            <a:ext cx="6583680" cy="6583680"/>
          </a:xfrm>
          <a:prstGeom prst="ellipse">
            <a:avLst/>
          </a:prstGeom>
          <a:ln w="12700">
            <a:solidFill>
              <a:srgbClr val="C99A3B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83903" y="3950208"/>
            <a:ext cx="5815584" cy="5815584"/>
          </a:xfrm>
          <a:prstGeom prst="ellipse">
            <a:avLst/>
          </a:prstGeom>
          <a:ln w="12700">
            <a:solidFill>
              <a:srgbClr val="5C7A99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67951" y="4334256"/>
            <a:ext cx="5047488" cy="5047488"/>
          </a:xfrm>
          <a:prstGeom prst="ellipse">
            <a:avLst/>
          </a:prstGeom>
          <a:ln w="12700">
            <a:solidFill>
              <a:srgbClr val="C99A3B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1999" y="4718304"/>
            <a:ext cx="4279392" cy="4279392"/>
          </a:xfrm>
          <a:prstGeom prst="ellipse">
            <a:avLst/>
          </a:prstGeom>
          <a:ln w="12700">
            <a:solidFill>
              <a:srgbClr val="5C7A99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36047" y="5102352"/>
            <a:ext cx="3511296" cy="3511296"/>
          </a:xfrm>
          <a:prstGeom prst="ellipse">
            <a:avLst/>
          </a:prstGeom>
          <a:ln w="12700">
            <a:solidFill>
              <a:srgbClr val="C99A3B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7772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9A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BANKING &amp; FINANCIAL ANALYTICS  ·  DAV SPECIALIZATION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969264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12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AI-Driven Loan Default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12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Prediction Using Banking Analytics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8961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C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Explainable Machine Learning for Credit Risk and Default Prediction in Banking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4892040"/>
            <a:ext cx="2926080" cy="0"/>
          </a:xfrm>
          <a:prstGeom prst="line">
            <a:avLst/>
          </a:prstGeom>
          <a:noFill/>
          <a:ln w="19050">
            <a:solidFill>
              <a:srgbClr val="C99A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12064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C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057400" y="509320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Tejasree Sagiraju  ·  Sruthi Bhatraju  ·  B. Bhavya Sai Sree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544982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C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57400" y="5422392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K. Swapnika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577900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C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COURSE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57400" y="5751576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Analytics &amp; Visualisation – 1 (24DSB3101)  ·  A.Y. 2026–2027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610819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C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057400" y="6080760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Review-1 Presentation  ·  5 August 2026</a:t>
            </a:r>
            <a:endParaRPr lang="en-US" sz="125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215" y="275590"/>
            <a:ext cx="238125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5C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REVIEW-1 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91440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30552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D6A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965960" y="2148840"/>
            <a:ext cx="3886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965960" y="2532888"/>
            <a:ext cx="3886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6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loan default prediction matters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37960" y="196596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0" y="2130552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D6A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680960" y="2148840"/>
            <a:ext cx="3886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680960" y="2532888"/>
            <a:ext cx="3886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6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the project sets out to achieve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3832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51560" y="3547872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D6A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965960" y="3566160"/>
            <a:ext cx="3886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Literature Survey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965960" y="3950208"/>
            <a:ext cx="3886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6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recent IEEE / ACM / Springer studies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37960" y="33832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3547872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D6A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680960" y="3566160"/>
            <a:ext cx="3886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Gaps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680960" y="3950208"/>
            <a:ext cx="3886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6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existing work still misses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480060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51560" y="4965192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D6A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1965960" y="4983480"/>
            <a:ext cx="3886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Proposed Innovation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965960" y="5367528"/>
            <a:ext cx="3886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6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our approach closes those gaps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37960" y="480060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66560" y="4965192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D6A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06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7680960" y="4983480"/>
            <a:ext cx="3886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Feasibility &amp; Plan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680960" y="5367528"/>
            <a:ext cx="3886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6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Data, tools, timeline, and deliverables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000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2165" y="211455"/>
            <a:ext cx="238125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EDEAE0"/>
          </a:solidFill>
        </p:spPr>
      </p:sp>
      <p:pic>
        <p:nvPicPr>
          <p:cNvPr id="3" name="Image 0" descr="icons/warning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7724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691640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STATEMENT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77240" y="3383280"/>
            <a:ext cx="3017520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Non-performing assets erode bank profitability, liquidity, and regulatory standing — and today's scorecards can't see it coming.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617720" y="685800"/>
            <a:ext cx="457200" cy="457200"/>
          </a:xfrm>
          <a:prstGeom prst="ellipse">
            <a:avLst/>
          </a:prstGeom>
          <a:solidFill>
            <a:srgbClr val="E8D6A8"/>
          </a:solidFill>
        </p:spPr>
      </p:sp>
      <p:sp>
        <p:nvSpPr>
          <p:cNvPr id="7" name="Text 4"/>
          <p:cNvSpPr/>
          <p:nvPr/>
        </p:nvSpPr>
        <p:spPr>
          <a:xfrm>
            <a:off x="4617720" y="6858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303520" y="640080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Static, rule-based scorecards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303520" y="1033272"/>
            <a:ext cx="61264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underwriting and legacy scorecards cannot capture the complex, non-linear relationships between borrower behaviour, repayment history, and macroeconomic conditions.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17720" y="2103120"/>
            <a:ext cx="457200" cy="457200"/>
          </a:xfrm>
          <a:prstGeom prst="ellipse">
            <a:avLst/>
          </a:prstGeom>
          <a:solidFill>
            <a:srgbClr val="E8D6A8"/>
          </a:solidFill>
        </p:spPr>
      </p:sp>
      <p:sp>
        <p:nvSpPr>
          <p:cNvPr id="11" name="Text 8"/>
          <p:cNvSpPr/>
          <p:nvPr/>
        </p:nvSpPr>
        <p:spPr>
          <a:xfrm>
            <a:off x="4617720" y="2103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303520" y="2057400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Rising misclassification risk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303520" y="2450592"/>
            <a:ext cx="61264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models routinely misclassify risk, directly inflating non-performing assets (NPAs) and reducing capital efficiency for banks and NBFCs.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617720" y="3520440"/>
            <a:ext cx="457200" cy="457200"/>
          </a:xfrm>
          <a:prstGeom prst="ellipse">
            <a:avLst/>
          </a:prstGeom>
          <a:solidFill>
            <a:srgbClr val="E8D6A8"/>
          </a:solidFill>
        </p:spPr>
      </p:sp>
      <p:sp>
        <p:nvSpPr>
          <p:cNvPr id="15" name="Text 12"/>
          <p:cNvSpPr/>
          <p:nvPr/>
        </p:nvSpPr>
        <p:spPr>
          <a:xfrm>
            <a:off x="4617720" y="35204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303520" y="3474720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Opaque "black-box" ML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303520" y="3867912"/>
            <a:ext cx="61264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institutions do adopt ML, most models offer no explanation for a decision — making them hard to trust, audit, or defend to a regulator.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617720" y="4937760"/>
            <a:ext cx="457200" cy="457200"/>
          </a:xfrm>
          <a:prstGeom prst="ellipse">
            <a:avLst/>
          </a:prstGeom>
          <a:solidFill>
            <a:srgbClr val="E8D6A8"/>
          </a:solidFill>
        </p:spPr>
      </p:sp>
      <p:sp>
        <p:nvSpPr>
          <p:cNvPr id="19" name="Text 16"/>
          <p:cNvSpPr/>
          <p:nvPr/>
        </p:nvSpPr>
        <p:spPr>
          <a:xfrm>
            <a:off x="4617720" y="4937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303520" y="4892040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Imbalanced, fragmented data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303520" y="5285232"/>
            <a:ext cx="61264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Default cases are a small minority of records, and most studies validate on a single dataset — limiting how well findings generalise across lending contexts.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0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1060" y="142875"/>
            <a:ext cx="238125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5C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REVIEW-1 · POINT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Six measurable goals guide the design, evaluation, and delivery of the prototype.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8992" y="2267712"/>
            <a:ext cx="548640" cy="548640"/>
          </a:xfrm>
          <a:prstGeom prst="ellipse">
            <a:avLst/>
          </a:prstGeom>
          <a:solidFill>
            <a:srgbClr val="12233F"/>
          </a:solidFill>
        </p:spPr>
      </p:sp>
      <p:pic>
        <p:nvPicPr>
          <p:cNvPr id="7" name="Image 0" descr="icons/database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239572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2926080"/>
            <a:ext cx="30083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2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Consolidate benchmark data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78992" y="3310128"/>
            <a:ext cx="300837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B76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 Lending Club, Statlog German Credit, and Home Credit datasets into one structured, analysis-ready pipeline.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4663440" y="20116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19472" y="2267712"/>
            <a:ext cx="548640" cy="548640"/>
          </a:xfrm>
          <a:prstGeom prst="ellipse">
            <a:avLst/>
          </a:prstGeom>
          <a:solidFill>
            <a:srgbClr val="12233F"/>
          </a:solidFill>
        </p:spPr>
      </p:sp>
      <p:pic>
        <p:nvPicPr>
          <p:cNvPr id="12" name="Image 1" descr="icons/barchart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239572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19472" y="2926080"/>
            <a:ext cx="30083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2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Deep, decision-grade EDA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19472" y="3310128"/>
            <a:ext cx="300837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B76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12+ analytical techniques — from missingness and outliers to class-imbalance and correlation analysis — before any modelling.</a:t>
            </a:r>
            <a:endParaRPr lang="en-US" sz="980" dirty="0"/>
          </a:p>
        </p:txBody>
      </p:sp>
      <p:sp>
        <p:nvSpPr>
          <p:cNvPr id="15" name="Shape 11"/>
          <p:cNvSpPr/>
          <p:nvPr/>
        </p:nvSpPr>
        <p:spPr>
          <a:xfrm>
            <a:off x="8503920" y="20116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759952" y="2267712"/>
            <a:ext cx="548640" cy="548640"/>
          </a:xfrm>
          <a:prstGeom prst="ellipse">
            <a:avLst/>
          </a:prstGeom>
          <a:solidFill>
            <a:srgbClr val="12233F"/>
          </a:solidFill>
        </p:spPr>
      </p:sp>
      <p:pic>
        <p:nvPicPr>
          <p:cNvPr id="17" name="Image 2" descr="icons/cogs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7968" y="239572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59952" y="2926080"/>
            <a:ext cx="30083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2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 risk-aware features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759952" y="3310128"/>
            <a:ext cx="300837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B76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Derive debt-to-income ratio, credit utilization, and repayment-consistency features that sharpen predictive signal.</a:t>
            </a:r>
            <a:endParaRPr lang="en-US" sz="980" dirty="0"/>
          </a:p>
        </p:txBody>
      </p:sp>
      <p:sp>
        <p:nvSpPr>
          <p:cNvPr id="20" name="Shape 15"/>
          <p:cNvSpPr/>
          <p:nvPr/>
        </p:nvSpPr>
        <p:spPr>
          <a:xfrm>
            <a:off x="822960" y="4114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78992" y="4370832"/>
            <a:ext cx="548640" cy="548640"/>
          </a:xfrm>
          <a:prstGeom prst="ellipse">
            <a:avLst/>
          </a:prstGeom>
          <a:solidFill>
            <a:srgbClr val="12233F"/>
          </a:solidFill>
        </p:spPr>
      </p:sp>
      <p:pic>
        <p:nvPicPr>
          <p:cNvPr id="22" name="Image 3" descr="icons/network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7008" y="4498848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78992" y="5029200"/>
            <a:ext cx="30083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2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Benchmark five ML models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078992" y="5413248"/>
            <a:ext cx="300837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B76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and compare Logistic Regression, Decision Tree, Random Forest, XGBoost, and CatBoost under identical conditions.</a:t>
            </a:r>
            <a:endParaRPr lang="en-US" sz="980" dirty="0"/>
          </a:p>
        </p:txBody>
      </p:sp>
      <p:sp>
        <p:nvSpPr>
          <p:cNvPr id="25" name="Shape 19"/>
          <p:cNvSpPr/>
          <p:nvPr/>
        </p:nvSpPr>
        <p:spPr>
          <a:xfrm>
            <a:off x="4663440" y="4114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919472" y="4370832"/>
            <a:ext cx="548640" cy="548640"/>
          </a:xfrm>
          <a:prstGeom prst="ellipse">
            <a:avLst/>
          </a:prstGeom>
          <a:solidFill>
            <a:srgbClr val="12233F"/>
          </a:solidFill>
        </p:spPr>
      </p:sp>
      <p:pic>
        <p:nvPicPr>
          <p:cNvPr id="27" name="Image 4" descr="icons/brain_go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7488" y="4498848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919472" y="5029200"/>
            <a:ext cx="30083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2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Make predictions explainable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919472" y="5413248"/>
            <a:ext cx="300837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B76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 SHAP and LIME to the best model so every default-risk score has an auditable, human-readable reason.</a:t>
            </a:r>
            <a:endParaRPr lang="en-US" sz="980" dirty="0"/>
          </a:p>
        </p:txBody>
      </p:sp>
      <p:sp>
        <p:nvSpPr>
          <p:cNvPr id="30" name="Shape 23"/>
          <p:cNvSpPr/>
          <p:nvPr/>
        </p:nvSpPr>
        <p:spPr>
          <a:xfrm>
            <a:off x="8503920" y="4114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759952" y="4370832"/>
            <a:ext cx="548640" cy="548640"/>
          </a:xfrm>
          <a:prstGeom prst="ellipse">
            <a:avLst/>
          </a:prstGeom>
          <a:solidFill>
            <a:srgbClr val="12233F"/>
          </a:solidFill>
        </p:spPr>
      </p:sp>
      <p:pic>
        <p:nvPicPr>
          <p:cNvPr id="32" name="Image 5" descr="icons/clipboard_go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87968" y="4498848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759952" y="5029200"/>
            <a:ext cx="30083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2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 a usable dashboard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8759952" y="5413248"/>
            <a:ext cx="300837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B76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Package results into a visualization dashboard so loan officers see the prediction and the reasoning together.</a:t>
            </a:r>
            <a:endParaRPr lang="en-US" sz="980" dirty="0"/>
          </a:p>
        </p:txBody>
      </p:sp>
      <p:sp>
        <p:nvSpPr>
          <p:cNvPr id="35" name="Text 27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000" dirty="0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21850" y="181610"/>
            <a:ext cx="238125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5C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REVIEW-1 · POINT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7315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Literature Survey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2984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Papers 1–6 of 11 · IEEE Access / ACM / Springer, 2024–2026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510045"/>
              </p:ext>
            </p:extLst>
          </p:nvPr>
        </p:nvGraphicFramePr>
        <p:xfrm>
          <a:off x="822960" y="1828800"/>
          <a:ext cx="11247120" cy="2699004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2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Year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Author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Venue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Method / Finding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Gap / Relevance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2024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Aruleba &amp; Sun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IEEE Access, vol. 12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Ensemble classifiers (RF, AdaBoost, XGBoost, LightGBM) + SMOTE-ENN + SHAP on German/Australian credit data.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Limited to 2 datasets; SHAP applied only after model selection, not during comparison.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2024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Zhu et al.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IEEE ICETCI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LightGBM–XGBoost–LocalEnsemble stacking for credit default prediction; ensembling lifts detection over single learners.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 explainability layer; accuracy gains aren't paired with interpretability or decision support.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2024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Vihurskyi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IEEE ICDCECE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XAI applied to credit-card fraud/default detection to improve interpretability and analyst trust in flagged cases.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Single dataset; XAI added for trust but not benchmarked across candidate models.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2025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Gonaygunta et al.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IEEE SIEDS, pp.444–449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Interpretable credit-scoring models using XAI to empower end users in financial risk assessment.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Improves end-user interpretability but stops at metrics — no dashboard or decision-support layer.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2025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Hartomo, Arthur &amp; Nataliani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IEEE Access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Weighted-loss TabTransformer integrating explainability for imbalanced credit-risk datasets.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Single dataset; deep transformer trades transparency for accuracy — the trade-off we benchmark.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2025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050" dirty="0">
                          <a:latin typeface="+mn-lt"/>
                        </a:rPr>
                        <a:t>Cai, Dai &amp; Lu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ACM GAIIS 2025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Seven-model comparison (DT, RF, AdaBoost, Bagging, XGBoost, LightGBM, CatBoost); CatBoost best on AUC.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Compares 7 models on accuracy alone; explainability isn't part of model selection.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830" y="202565"/>
            <a:ext cx="238125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5C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REVIEW-1 · POINT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7315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Literature Survey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2984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Papers 7–11 of 11 · IEEE Access / ACM / Springer, 2024–2026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451511"/>
              </p:ext>
            </p:extLst>
          </p:nvPr>
        </p:nvGraphicFramePr>
        <p:xfrm>
          <a:off x="822960" y="1828800"/>
          <a:ext cx="11247120" cy="2619756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2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Year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Author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Venue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Method / Finding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Gap / Relevance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2025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050" b="0" dirty="0">
                          <a:latin typeface="+mn-lt"/>
                        </a:rPr>
                        <a:t>Lixin Zhang </a:t>
                      </a:r>
                      <a:endParaRPr lang="en-US" sz="1030" b="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ACM CSAIDE 2025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Explainable ML on the Home Credit dataset (1.53M records, 3.14% default rate) for consumer-finance risk.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Single dataset (Home Credit); explainability applied late, to one selected model only.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2024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Demma Wube et al.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Springer CCIS, vol. 2069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Systematic review of deep-learning vs. classical ML techniques for credit scoring, PanAfriConAI 2023.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Confirms deep learning trades interpretability for accuracy — motivates benchmarking simple-to-complex models together.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2025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050" dirty="0">
                          <a:latin typeface="+mn-lt"/>
                        </a:rPr>
                        <a:t>Leticia Monje, Ramón Alberto Carrasco &amp; Manuel Sánchez-</a:t>
                      </a:r>
                      <a:r>
                        <a:rPr lang="en-IN" sz="1050" dirty="0" err="1">
                          <a:latin typeface="+mn-lt"/>
                        </a:rPr>
                        <a:t>Montañés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Computational Economics (Springer)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XGBoost + post-hoc SHAP explanations for early loan-default prediction on P2P lending data.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Single P2P dataset; SHAP applied post-hoc to the one chosen XGBoost model only.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2025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Liang et al.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Computational Economics, Springer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Explainable deep learning for credit-risk analysis of technology-based small and micro enterprises.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Single lending context; deep-learning gains come with reduced transparency for stakeholders.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2026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Kofidis, Cocianu &amp; Uscatu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Springer LNNS chapter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Comparative study of balancing techniques (SMOTE family) across CNN, LSTM, RF, and SVM for loan default.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0" dirty="0">
                          <a:solidFill>
                            <a:srgbClr val="1B2430"/>
                          </a:solidFill>
                          <a:latin typeface="+mn-lt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Compares imbalance techniques across models but stops at metric tables — no explainability or dashboard layer.</a:t>
                      </a:r>
                      <a:endParaRPr lang="en-US" sz="1030" dirty="0"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" y="534924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F3EFE3"/>
          </a:solidFill>
        </p:spPr>
      </p:sp>
      <p:pic>
        <p:nvPicPr>
          <p:cNvPr id="5" name="Image 0" descr="icons/bulb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557784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91640" y="5440680"/>
            <a:ext cx="94183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12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Consistent pattern across all 11 studies: strong single-model or single-dataset accuracy gains, but explainability is usually bolted on to one "winning" model rather than compared across models, datasets, or lending contexts.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0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0750" y="80645"/>
            <a:ext cx="238125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C99A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REVIEW-1 · POINT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Research Gaps We Address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</p:sp>
      <p:pic>
        <p:nvPicPr>
          <p:cNvPr id="5" name="Image 0" descr="icons/search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8483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26060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99A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Single-dataset validation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097280" y="2971800"/>
            <a:ext cx="4572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C48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Papers 1, 3, 5, 6, 9, 10 each validate on one dataset (German credit, Home Credit, or a single P2P platform) — findings rarely transfer across lending environments.</a:t>
            </a:r>
            <a:endParaRPr lang="en-US" sz="1030" dirty="0"/>
          </a:p>
        </p:txBody>
      </p:sp>
      <p:sp>
        <p:nvSpPr>
          <p:cNvPr id="8" name="Shape 5"/>
          <p:cNvSpPr/>
          <p:nvPr/>
        </p:nvSpPr>
        <p:spPr>
          <a:xfrm>
            <a:off x="6263640" y="182880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</p:sp>
      <p:pic>
        <p:nvPicPr>
          <p:cNvPr id="9" name="Image 1" descr="icons/layers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08483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37960" y="26060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99A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Explainability applied late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537960" y="2971800"/>
            <a:ext cx="4572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C48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SHAP/LIME (papers 1, 3, 5, 6, 7, 9) is typically bolted on to a single "winning" model after selection, not used to compare candidate models during development.</a:t>
            </a:r>
            <a:endParaRPr lang="en-US" sz="1030" dirty="0"/>
          </a:p>
        </p:txBody>
      </p:sp>
      <p:sp>
        <p:nvSpPr>
          <p:cNvPr id="12" name="Shape 8"/>
          <p:cNvSpPr/>
          <p:nvPr/>
        </p:nvSpPr>
        <p:spPr>
          <a:xfrm>
            <a:off x="822960" y="393192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</p:sp>
      <p:pic>
        <p:nvPicPr>
          <p:cNvPr id="13" name="Image 2" descr="icons/balance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4187952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47091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99A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Accuracy–interpretability trade-off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097280" y="5074920"/>
            <a:ext cx="4572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C48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Deep/transformer models (papers 5, 10) push accuracy up but interpretability studies (paper 8) show this often comes at the cost of transparency for non-technical stakeholders.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263640" y="393192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</p:sp>
      <p:pic>
        <p:nvPicPr>
          <p:cNvPr id="17" name="Image 3" descr="icons/clipboard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4187952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37960" y="47091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99A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decision-support layer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537960" y="5074920"/>
            <a:ext cx="4572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C48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Almost none of the surveyed work (papers 1–11) packages results into a dashboard loan officers can actually use — most stop at reporting Accuracy/F1/AUC tables.</a:t>
            </a:r>
            <a:endParaRPr lang="en-US" sz="1030" dirty="0"/>
          </a:p>
        </p:txBody>
      </p:sp>
      <p:sp>
        <p:nvSpPr>
          <p:cNvPr id="20" name="Text 14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5C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REVIEW-1 · POINT 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Our Innovation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gap on the previous slide maps directly to a design decision in this project.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822960" y="1965960"/>
          <a:ext cx="10332720" cy="91440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Gap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Our Response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Single-dataset validation</a:t>
                      </a:r>
                      <a:endParaRPr lang="en-US" sz="103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Three benchmark datasets combined — Lending Club, Statlog German Credit, Home Credit — spanning traditional, classical, and thin-file/alternative lending.</a:t>
                      </a:r>
                      <a:endParaRPr lang="en-US" sz="103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Explainability applied late</a:t>
                      </a:r>
                      <a:endParaRPr lang="en-US" sz="103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SHAP and LIME are run across all five candidate models during comparison, not only on the final chosen model.</a:t>
                      </a:r>
                      <a:endParaRPr lang="en-US" sz="103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Accuracy vs. interpretability trade-off</a:t>
                      </a:r>
                      <a:endParaRPr lang="en-US" sz="103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Five models spanning simple-to-complex (Logistic Regression → CatBoost) are benchmarked on the same metrics, letting stakeholders choose their own point on the trade-off curve.</a:t>
                      </a:r>
                      <a:endParaRPr lang="en-US" sz="103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 decision-support layer</a:t>
                      </a:r>
                      <a:endParaRPr lang="en-US" sz="103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 visualization dashboard (heatmaps, boxplots, feature-importance charts) turns model output into something a loan officer can act on, not just a metrics table.</a:t>
                      </a:r>
                      <a:endParaRPr lang="en-US" sz="103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0750" y="162560"/>
            <a:ext cx="238125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5C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APPROACH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End-to-End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1481328" cy="1737360"/>
          </a:xfrm>
          <a:prstGeom prst="roundRect">
            <a:avLst>
              <a:gd name="adj" fmla="val 6173"/>
            </a:avLst>
          </a:prstGeom>
          <a:solidFill>
            <a:srgbClr val="12233F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1016" y="2578608"/>
            <a:ext cx="585216" cy="585216"/>
          </a:xfrm>
          <a:prstGeom prst="ellipse">
            <a:avLst/>
          </a:prstGeom>
          <a:solidFill>
            <a:srgbClr val="1B3358"/>
          </a:solidFill>
        </p:spPr>
      </p:sp>
      <p:pic>
        <p:nvPicPr>
          <p:cNvPr id="6" name="Image 0" descr="icons/database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744" y="2706624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91840"/>
            <a:ext cx="138988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Benchmark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304288" y="2880360"/>
            <a:ext cx="32552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629814" y="2377440"/>
            <a:ext cx="1481328" cy="1737360"/>
          </a:xfrm>
          <a:prstGeom prst="roundRect">
            <a:avLst>
              <a:gd name="adj" fmla="val 6173"/>
            </a:avLst>
          </a:prstGeom>
          <a:solidFill>
            <a:srgbClr val="12233F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077870" y="2578608"/>
            <a:ext cx="585216" cy="585216"/>
          </a:xfrm>
          <a:prstGeom prst="ellipse">
            <a:avLst/>
          </a:prstGeom>
          <a:solidFill>
            <a:srgbClr val="1B3358"/>
          </a:solidFill>
        </p:spPr>
      </p:sp>
      <p:pic>
        <p:nvPicPr>
          <p:cNvPr id="11" name="Image 1" descr="icons/cogs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7598" y="2706624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75534" y="3291840"/>
            <a:ext cx="138988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Cleaning &amp;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12+ EDA Techniques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111142" y="2880360"/>
            <a:ext cx="32552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4436669" y="2377440"/>
            <a:ext cx="1481328" cy="1737360"/>
          </a:xfrm>
          <a:prstGeom prst="roundRect">
            <a:avLst>
              <a:gd name="adj" fmla="val 6173"/>
            </a:avLst>
          </a:prstGeom>
          <a:solidFill>
            <a:srgbClr val="12233F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84725" y="2578608"/>
            <a:ext cx="585216" cy="585216"/>
          </a:xfrm>
          <a:prstGeom prst="ellipse">
            <a:avLst/>
          </a:prstGeom>
          <a:solidFill>
            <a:srgbClr val="1B3358"/>
          </a:solidFill>
        </p:spPr>
      </p:sp>
      <p:pic>
        <p:nvPicPr>
          <p:cNvPr id="16" name="Image 2" descr="icons/layers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4453" y="270662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82389" y="3291840"/>
            <a:ext cx="138988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Engineering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Selection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917997" y="2880360"/>
            <a:ext cx="32552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6243523" y="2377440"/>
            <a:ext cx="1481328" cy="1737360"/>
          </a:xfrm>
          <a:prstGeom prst="roundRect">
            <a:avLst>
              <a:gd name="adj" fmla="val 6173"/>
            </a:avLst>
          </a:prstGeom>
          <a:solidFill>
            <a:srgbClr val="12233F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91579" y="2578608"/>
            <a:ext cx="585216" cy="585216"/>
          </a:xfrm>
          <a:prstGeom prst="ellipse">
            <a:avLst/>
          </a:prstGeom>
          <a:solidFill>
            <a:srgbClr val="1B3358"/>
          </a:solidFill>
        </p:spPr>
      </p:sp>
      <p:pic>
        <p:nvPicPr>
          <p:cNvPr id="21" name="Image 3" descr="icons/network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1307" y="270662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89243" y="3291840"/>
            <a:ext cx="138988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ML Models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(LR→CatBoost)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724851" y="2880360"/>
            <a:ext cx="32552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8050378" y="2377440"/>
            <a:ext cx="1481328" cy="1737360"/>
          </a:xfrm>
          <a:prstGeom prst="roundRect">
            <a:avLst>
              <a:gd name="adj" fmla="val 6173"/>
            </a:avLst>
          </a:prstGeom>
          <a:solidFill>
            <a:srgbClr val="12233F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498434" y="2578608"/>
            <a:ext cx="585216" cy="585216"/>
          </a:xfrm>
          <a:prstGeom prst="ellipse">
            <a:avLst/>
          </a:prstGeom>
          <a:solidFill>
            <a:srgbClr val="1B3358"/>
          </a:solidFill>
        </p:spPr>
      </p:sp>
      <p:pic>
        <p:nvPicPr>
          <p:cNvPr id="26" name="Image 4" descr="icons/brain_go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8162" y="2706624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096098" y="3291840"/>
            <a:ext cx="138988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 + LIME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Explainability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9531706" y="2880360"/>
            <a:ext cx="32552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2"/>
          <p:cNvSpPr/>
          <p:nvPr/>
        </p:nvSpPr>
        <p:spPr>
          <a:xfrm>
            <a:off x="9857232" y="2377440"/>
            <a:ext cx="1481328" cy="1737360"/>
          </a:xfrm>
          <a:prstGeom prst="roundRect">
            <a:avLst>
              <a:gd name="adj" fmla="val 6173"/>
            </a:avLst>
          </a:prstGeom>
          <a:solidFill>
            <a:srgbClr val="C99A3B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10305288" y="2578608"/>
            <a:ext cx="585216" cy="585216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31" name="Image 5" descr="icons/barchart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5016" y="2706624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902952" y="3291840"/>
            <a:ext cx="138988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Visualization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822960" y="452628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Evaluated on:</a:t>
            </a:r>
            <a:endParaRPr lang="en-US" sz="1250" dirty="0"/>
          </a:p>
        </p:txBody>
      </p:sp>
      <p:sp>
        <p:nvSpPr>
          <p:cNvPr id="34" name="Shape 26"/>
          <p:cNvSpPr/>
          <p:nvPr/>
        </p:nvSpPr>
        <p:spPr>
          <a:xfrm>
            <a:off x="2286000" y="4480560"/>
            <a:ext cx="1046074" cy="384048"/>
          </a:xfrm>
          <a:prstGeom prst="roundRect">
            <a:avLst>
              <a:gd name="adj" fmla="val 50000"/>
            </a:avLst>
          </a:prstGeom>
          <a:solidFill>
            <a:srgbClr val="EDEAE0"/>
          </a:solidFill>
          <a:ln w="12700">
            <a:solidFill>
              <a:srgbClr val="C99A3B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2286000" y="4480560"/>
            <a:ext cx="104607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3514954" y="4480560"/>
            <a:ext cx="1135685" cy="384048"/>
          </a:xfrm>
          <a:prstGeom prst="roundRect">
            <a:avLst>
              <a:gd name="adj" fmla="val 50000"/>
            </a:avLst>
          </a:prstGeom>
          <a:solidFill>
            <a:srgbClr val="EDEAE0"/>
          </a:solidFill>
          <a:ln w="12700">
            <a:solidFill>
              <a:srgbClr val="C99A3B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3514954" y="4480560"/>
            <a:ext cx="1135685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4833518" y="4480560"/>
            <a:ext cx="866851" cy="384048"/>
          </a:xfrm>
          <a:prstGeom prst="roundRect">
            <a:avLst>
              <a:gd name="adj" fmla="val 50000"/>
            </a:avLst>
          </a:prstGeom>
          <a:solidFill>
            <a:srgbClr val="EDEAE0"/>
          </a:solidFill>
          <a:ln w="12700">
            <a:solidFill>
              <a:srgbClr val="C99A3B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4833518" y="4480560"/>
            <a:ext cx="866851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Recall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5883250" y="4480560"/>
            <a:ext cx="1046074" cy="384048"/>
          </a:xfrm>
          <a:prstGeom prst="roundRect">
            <a:avLst>
              <a:gd name="adj" fmla="val 50000"/>
            </a:avLst>
          </a:prstGeom>
          <a:solidFill>
            <a:srgbClr val="EDEAE0"/>
          </a:solidFill>
          <a:ln w="12700">
            <a:solidFill>
              <a:srgbClr val="C99A3B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5883250" y="4480560"/>
            <a:ext cx="104607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F1-Score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7112203" y="4480560"/>
            <a:ext cx="956462" cy="384048"/>
          </a:xfrm>
          <a:prstGeom prst="roundRect">
            <a:avLst>
              <a:gd name="adj" fmla="val 50000"/>
            </a:avLst>
          </a:prstGeom>
          <a:solidFill>
            <a:srgbClr val="EDEAE0"/>
          </a:solidFill>
          <a:ln w="12700">
            <a:solidFill>
              <a:srgbClr val="C99A3B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7112203" y="4480560"/>
            <a:ext cx="95646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ROC-AUC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>
            <a:off x="822960" y="51663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6B76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this order: EDA and feature work happen before modelling so class-imbalance handling (SMOTE / class-weighting) and encoding decisions are grounded in the data, not assumed. Explainability runs on every candidate model so the final choice is transparent, not just accurate.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000" dirty="0"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82480" y="219710"/>
            <a:ext cx="238125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5C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REVIEW-1 · POINT 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Feasibility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892808"/>
            <a:ext cx="457200" cy="457200"/>
          </a:xfrm>
          <a:prstGeom prst="ellipse">
            <a:avLst/>
          </a:prstGeom>
          <a:solidFill>
            <a:srgbClr val="12233F"/>
          </a:solidFill>
        </p:spPr>
      </p:sp>
      <p:pic>
        <p:nvPicPr>
          <p:cNvPr id="6" name="Image 0" descr="icons/database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200253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92808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Feasibility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2468880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E7C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10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datasets are public, well-documented, and widely cited in credit-risk research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97280" y="2862072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E7C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10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Combined size is large enough for robust train/test/validation splits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97280" y="3255264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E7C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10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 imbalance is known and addressable (SMOTE, class-weighting)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92240" y="1892808"/>
            <a:ext cx="457200" cy="457200"/>
          </a:xfrm>
          <a:prstGeom prst="ellipse">
            <a:avLst/>
          </a:prstGeom>
          <a:solidFill>
            <a:srgbClr val="12233F"/>
          </a:solidFill>
        </p:spPr>
      </p:sp>
      <p:pic>
        <p:nvPicPr>
          <p:cNvPr id="13" name="Image 1" descr="icons/cogs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200253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86600" y="1892808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 Feasibility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537960" y="2468880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E7C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10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five ML models (LR → CatBoost) have mature, well-supported Python libraries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537960" y="2862072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E7C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10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 and LIME are standard, actively maintained explainability toolkits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537960" y="3255264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E7C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10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Dashboarding achievable with existing plotting / BI tooling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22960" y="393192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1051560" y="4133088"/>
            <a:ext cx="457200" cy="457200"/>
          </a:xfrm>
          <a:prstGeom prst="ellipse">
            <a:avLst/>
          </a:prstGeom>
          <a:solidFill>
            <a:srgbClr val="12233F"/>
          </a:solidFill>
        </p:spPr>
      </p:sp>
      <p:pic>
        <p:nvPicPr>
          <p:cNvPr id="20" name="Image 2" descr="icons/money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288" y="4242816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45920" y="4133088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Economic Feasibility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097280" y="4709160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E7C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10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entirely on open-source tools and free/public datasets — no licensing cost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097280" y="5102352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E7C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10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on standard student-grade hardware or free cloud notebook tiers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263640" y="393192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92240" y="4133088"/>
            <a:ext cx="457200" cy="457200"/>
          </a:xfrm>
          <a:prstGeom prst="ellipse">
            <a:avLst/>
          </a:prstGeom>
          <a:solidFill>
            <a:srgbClr val="12233F"/>
          </a:solidFill>
        </p:spPr>
      </p:sp>
      <p:pic>
        <p:nvPicPr>
          <p:cNvPr id="26" name="Image 3" descr="icons/calendar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968" y="4242816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086600" y="4133088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 Feasibility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6537960" y="4709160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C99A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10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Scoped to fit the semester timeline with buffer before final submission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6537960" y="5102352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C99A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10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Modular pipeline lets EDA, modelling, and XAI stages proceed in parallel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1375" y="120015"/>
            <a:ext cx="238125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5C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REVIEW-1 · POINT 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Plan &amp; Timeline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17320" y="2057400"/>
            <a:ext cx="0" cy="4023360"/>
          </a:xfrm>
          <a:prstGeom prst="line">
            <a:avLst/>
          </a:prstGeom>
          <a:noFill/>
          <a:ln w="25400">
            <a:solidFill>
              <a:srgbClr val="DAD5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9304" y="1929384"/>
            <a:ext cx="256032" cy="256032"/>
          </a:xfrm>
          <a:prstGeom prst="ellipse">
            <a:avLst/>
          </a:prstGeom>
          <a:solidFill>
            <a:srgbClr val="12233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47088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C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828800" y="1819656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Acquisition &amp; Cleaning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23560" y="1847088"/>
            <a:ext cx="5715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 &amp; merge 3 datasets, handle missing values, duplicates, encoding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89304" y="2679192"/>
            <a:ext cx="256032" cy="256032"/>
          </a:xfrm>
          <a:prstGeom prst="ellipse">
            <a:avLst/>
          </a:prstGeom>
          <a:solidFill>
            <a:srgbClr val="12233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96896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C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828800" y="2569464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Exploratory Data Analysis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623560" y="2596896"/>
            <a:ext cx="5715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12+ techniques: univariate → multivariate, correlation, imbalance analysis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89304" y="3429000"/>
            <a:ext cx="256032" cy="256032"/>
          </a:xfrm>
          <a:prstGeom prst="ellipse">
            <a:avLst/>
          </a:prstGeom>
          <a:solidFill>
            <a:srgbClr val="12233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346704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C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828800" y="331927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Engineering &amp; Selection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623560" y="3346704"/>
            <a:ext cx="5715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DTI ratio, credit utilization, mutual information, RFE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289304" y="4178808"/>
            <a:ext cx="256032" cy="256032"/>
          </a:xfrm>
          <a:prstGeom prst="ellipse">
            <a:avLst/>
          </a:prstGeom>
          <a:solidFill>
            <a:srgbClr val="12233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09651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C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828800" y="40690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Building &amp; Comparison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623560" y="4096512"/>
            <a:ext cx="5715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LR, Decision Tree, Random Forest, XGBoost, CatBoost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89304" y="4928616"/>
            <a:ext cx="256032" cy="256032"/>
          </a:xfrm>
          <a:prstGeom prst="ellipse">
            <a:avLst/>
          </a:prstGeom>
          <a:solidFill>
            <a:srgbClr val="12233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84632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C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828800" y="481888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Explainability &amp; Evaluation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23560" y="4846320"/>
            <a:ext cx="5715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 + LIME analysis; Accuracy/Precision/Recall/F1/ROC-AUC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289304" y="5678424"/>
            <a:ext cx="256032" cy="256032"/>
          </a:xfrm>
          <a:prstGeom prst="ellipse">
            <a:avLst/>
          </a:prstGeom>
          <a:solidFill>
            <a:srgbClr val="C99A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596128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C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6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828800" y="5568696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3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&amp; Final Reporting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23560" y="5596128"/>
            <a:ext cx="5715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visualization dashboard; consolidate findings for submission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3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6430" y="153035"/>
            <a:ext cx="238125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C99A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LOOKING AHEAD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Expected Outcomes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</p:sp>
      <p:pic>
        <p:nvPicPr>
          <p:cNvPr id="5" name="Image 0" descr="icons/chec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8483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26060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99A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Working explainable prototype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097280" y="2971800"/>
            <a:ext cx="4572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C48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Predicts loan-default risk with high accuracy while staying interpretable to non-technical banking stakeholders.</a:t>
            </a:r>
            <a:endParaRPr lang="en-US" sz="1030" dirty="0"/>
          </a:p>
        </p:txBody>
      </p:sp>
      <p:sp>
        <p:nvSpPr>
          <p:cNvPr id="8" name="Shape 5"/>
          <p:cNvSpPr/>
          <p:nvPr/>
        </p:nvSpPr>
        <p:spPr>
          <a:xfrm>
            <a:off x="6263640" y="182880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</p:sp>
      <p:pic>
        <p:nvPicPr>
          <p:cNvPr id="9" name="Image 1" descr="icons/usershield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08483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37960" y="26060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99A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Auditable, regulator-ready decisions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537960" y="2971800"/>
            <a:ext cx="4572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C48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SHAP/LIME explanations give every prediction a transparent, defensible reason — supporting compliance reviews.</a:t>
            </a:r>
            <a:endParaRPr lang="en-US" sz="1030" dirty="0"/>
          </a:p>
        </p:txBody>
      </p:sp>
      <p:sp>
        <p:nvSpPr>
          <p:cNvPr id="12" name="Shape 8"/>
          <p:cNvSpPr/>
          <p:nvPr/>
        </p:nvSpPr>
        <p:spPr>
          <a:xfrm>
            <a:off x="822960" y="393192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</p:sp>
      <p:pic>
        <p:nvPicPr>
          <p:cNvPr id="13" name="Image 2" descr="icons/chartline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4187952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47091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99A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Reduced NPAs, stronger portfolios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097280" y="5074920"/>
            <a:ext cx="4572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C48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practical, scalable pattern banks and NBFCs can adopt to strengthen underwriting and portfolio health.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263640" y="393192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</p:sp>
      <p:pic>
        <p:nvPicPr>
          <p:cNvPr id="17" name="Image 3" descr="icons/road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4187952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37960" y="47091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99A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strong DAV portfolio project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537960" y="5074920"/>
            <a:ext cx="4572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C48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Aligns with current research in Credit Risk Modelling, Financial Data Mining, and Explainable AI.</a:t>
            </a:r>
            <a:endParaRPr lang="en-US" sz="1030" dirty="0"/>
          </a:p>
        </p:txBody>
      </p:sp>
      <p:sp>
        <p:nvSpPr>
          <p:cNvPr id="20" name="Text 14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83115" y="113665"/>
            <a:ext cx="238125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91840" y="3566160"/>
            <a:ext cx="6583680" cy="6583680"/>
          </a:xfrm>
          <a:prstGeom prst="ellipse">
            <a:avLst/>
          </a:prstGeom>
          <a:ln w="12700">
            <a:solidFill>
              <a:srgbClr val="C99A3B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907792" y="3950208"/>
            <a:ext cx="5815584" cy="5815584"/>
          </a:xfrm>
          <a:prstGeom prst="ellipse">
            <a:avLst/>
          </a:prstGeom>
          <a:ln w="12700">
            <a:solidFill>
              <a:srgbClr val="5C7A99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523744" y="4334256"/>
            <a:ext cx="5047488" cy="5047488"/>
          </a:xfrm>
          <a:prstGeom prst="ellipse">
            <a:avLst/>
          </a:prstGeom>
          <a:ln w="12700">
            <a:solidFill>
              <a:srgbClr val="C99A3B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2139696" y="4718304"/>
            <a:ext cx="4279392" cy="4279392"/>
          </a:xfrm>
          <a:prstGeom prst="ellipse">
            <a:avLst/>
          </a:prstGeom>
          <a:ln w="12700">
            <a:solidFill>
              <a:srgbClr val="5C7A99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755648" y="5102352"/>
            <a:ext cx="3511296" cy="3511296"/>
          </a:xfrm>
          <a:prstGeom prst="ellipse">
            <a:avLst/>
          </a:prstGeom>
          <a:ln w="12700">
            <a:solidFill>
              <a:srgbClr val="C99A3B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2468880"/>
            <a:ext cx="12191695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223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99A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Discussion — Review-1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411480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AI-Driven Loan Default Prediction Using Banking Analytics  ·  Tejasree Sagiraju · Sruthi Bhatraju · B. Bhavya Sai Sree  ·  Guide: K. Swapnika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1756</Words>
  <Application>Microsoft Office PowerPoint</Application>
  <PresentationFormat>Widescreen</PresentationFormat>
  <Paragraphs>256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Teja sree</cp:lastModifiedBy>
  <cp:revision>3</cp:revision>
  <dcterms:created xsi:type="dcterms:W3CDTF">2026-08-08T07:06:00Z</dcterms:created>
  <dcterms:modified xsi:type="dcterms:W3CDTF">2026-08-14T07:07:44Z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924C8203E4654F96BF7C0AE52F4C9247_12</vt:lpwstr>
  </property>
</Properties>
</file>