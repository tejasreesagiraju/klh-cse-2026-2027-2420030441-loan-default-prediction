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6583680" cy="6583680"/>
          </a:xfrm>
          <a:prstGeom prst="ellipse">
            <a:avLst/>
          </a:prstGeom>
          <a:ln w="12700">
            <a:solidFill>
              <a:srgbClr val="C99A3B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3903" y="3950208"/>
            <a:ext cx="5815584" cy="5815584"/>
          </a:xfrm>
          <a:prstGeom prst="ellipse">
            <a:avLst/>
          </a:prstGeom>
          <a:ln w="12700">
            <a:solidFill>
              <a:srgbClr val="5C7A99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67951" y="4334256"/>
            <a:ext cx="5047488" cy="5047488"/>
          </a:xfrm>
          <a:prstGeom prst="ellipse">
            <a:avLst/>
          </a:prstGeom>
          <a:ln w="12700">
            <a:solidFill>
              <a:srgbClr val="C99A3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1999" y="4718304"/>
            <a:ext cx="4279392" cy="4279392"/>
          </a:xfrm>
          <a:prstGeom prst="ellipse">
            <a:avLst/>
          </a:prstGeom>
          <a:ln w="12700">
            <a:solidFill>
              <a:srgbClr val="5C7A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36047" y="5102352"/>
            <a:ext cx="3511296" cy="3511296"/>
          </a:xfrm>
          <a:prstGeom prst="ellipse">
            <a:avLst/>
          </a:prstGeom>
          <a:ln w="12700">
            <a:solidFill>
              <a:srgbClr val="C99A3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ANALYTICS  ·  DAV SPECIALIZATION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Loan Default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Using Banking Analytics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 for Credit Risk and Default Prediction in Banking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9050">
            <a:solidFill>
              <a:srgbClr val="C99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50932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Tejasree Sagiraju  ·  Sruthi Bhatraju  ·  B. Bhavya Sai Sree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49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54223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Swapnika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779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57515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Visualisation – 1 (24DSB3101)  ·  A.Y. 2026–2027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108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6080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Presentation  ·  5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30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6596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965960" y="25328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loan default prediction matters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130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8096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0" y="25328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achieve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965960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965960" y="39502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recent IEEE / ACM / Springer studies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80960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80960" y="39502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work still misses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9651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965960" y="4983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Innovation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965960" y="53675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approach closes those gaps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8006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49651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680960" y="4983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Plan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680960" y="53675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tools, timeline, and deliverables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DEAE0"/>
          </a:solidFill>
          <a:ln/>
        </p:spPr>
      </p:sp>
      <p:pic>
        <p:nvPicPr>
          <p:cNvPr id="3" name="Image 0" descr="icons/warn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91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3383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 assets erode bank profitability, liquidity, and regulatory standing — and today's scorecards can't see it coming.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617720" y="685800"/>
            <a:ext cx="457200" cy="457200"/>
          </a:xfrm>
          <a:prstGeom prst="ellipse">
            <a:avLst/>
          </a:prstGeom>
          <a:solidFill>
            <a:srgbClr val="E8D6A8"/>
          </a:solidFill>
          <a:ln/>
        </p:spPr>
      </p:sp>
      <p:sp>
        <p:nvSpPr>
          <p:cNvPr id="7" name="Text 4"/>
          <p:cNvSpPr/>
          <p:nvPr/>
        </p:nvSpPr>
        <p:spPr>
          <a:xfrm>
            <a:off x="46177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0" y="640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rule-based scorecards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0" y="1033272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and legacy scorecards cannot capture the complex, non-linear relationships between borrower behaviour, repayment history, and macroeconomic conditions.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rgbClr val="E8D6A8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2057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misclassification risk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03520" y="2450592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routinely misclassify risk, directly inflating non-performing assets (NPAs) and reducing capital efficiency for banks and NBFCs.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17720" y="3520440"/>
            <a:ext cx="457200" cy="457200"/>
          </a:xfrm>
          <a:prstGeom prst="ellipse">
            <a:avLst/>
          </a:prstGeom>
          <a:solidFill>
            <a:srgbClr val="E8D6A8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0" y="3474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"black-box" ML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03520" y="3867912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institutions do adopt ML, most models offer no explanation for a decision — making them hard to trust, audit, or defend to a regulator.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17720" y="4937760"/>
            <a:ext cx="457200" cy="457200"/>
          </a:xfrm>
          <a:prstGeom prst="ellipse">
            <a:avLst/>
          </a:prstGeom>
          <a:solidFill>
            <a:srgbClr val="E8D6A8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3520" y="4892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Imbalanced, fragmented data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03520" y="5285232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cases are a small minority of records, and most studies validate on a single dataset — limiting how well findings generalise across lending contexts.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measurable goals guide the design, evaluation, and delivery of the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26771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7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benchmark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33101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Lending Club, Statlog German Credit, and Home Credit datasets into one structured, analysis-ready pipeline.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66344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226771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2" name="Image 1" descr="icons/barcha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9472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decision-grade EDA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9472" y="33101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12+ analytical techniques — from missingness and outliers to class-imbalance and correlation analysis — before any modelling.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50392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59952" y="226771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7" name="Image 2" descr="icons/cog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9952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risk-aware features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59952" y="33101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debt-to-income ratio, credit utilization, and repayment-consistency features that sharpen predictive signal.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229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78992" y="437083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2" name="Image 3" descr="icons/networ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4988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five ML models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78992" y="54132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Logistic Regression, Decision Tree, Random Forest, XGBoost, and CatBoost under identical conditions.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6634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919472" y="437083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7" name="Image 4" descr="icons/brain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449884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1947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 explainable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919472" y="54132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and LIME to the best model so every default-risk score has an auditable, human-readable reason.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850392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759952" y="4370832"/>
            <a:ext cx="548640" cy="5486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32" name="Image 5" descr="icons/clipboard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449884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5995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usable dashboard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759952" y="54132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results into a visualization dashboard so loan officers see the prediction and the reasoning together.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1–6 of 11 · IEEE Access / ACM / Springer, 2024–2026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7040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&amp;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/ 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Aruleba &amp; Sun (2024)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Access, 12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classifiers (RF, AdaBoost, XGBoost, LightGBM) + SMOTE-ENN + SHAP on German/Australian credit data.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(2024)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ICETCI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LightGBM–XGBoost–LocalEnsemble stacking for credit default prediction; ensembling lifts detection over single learners.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Vihurskyi (2024)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ICDCECE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applied to credit-card fraud/default detection to improve interpretability and analyst trust in flagged cases.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Gonaygunta et al. (2025)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SIEDS, pp.444–449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credit-scoring models using XAI to empower end users in financial risk assessment.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Hartomo, Arthur &amp; Nataliani (2025)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Weighted-loss TabTransformer integrating explainability for imbalanced credit-risk datasets.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GAIIS 2025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(dl.acm.org/10.1145/3728725.3728813)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Seven-model comparison (DT, RF, AdaBoost, Bagging, XGBoost, LightGBM, CatBoost); CatBoost best on AUC.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7–11 of 11 · IEEE Access / ACM / Springer, 2024–2026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7040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&amp;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/ 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CSAIDE 2025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(dl.acm.org/10.1145/3729706.3729742)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ML on the Home Credit dataset (1.53M records, 3.14% default rate) for consumer-finance risk.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Demma Wube et al. (2024)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CCIS, vol. 2069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of deep-learning vs. classical ML techniques for credit scoring, PanAfriConAI 2023.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Economics (2025)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DOI 10.1007/s10614-025-10962-9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post-hoc SHAP explanations for early loan-default prediction on P2P lending data.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Liang et al. (2025)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Economics, Springer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deep learning for credit-risk analysis of technology-based small and micro enterprises.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Kofidis, Cocianu &amp; Uscatu (2026)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LNNS chapter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study of balancing techniques (SMOTE family) across CNN, LSTM, RF, and SVM for loan default.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3492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3EFE3"/>
          </a:solidFill>
          <a:ln/>
        </p:spPr>
      </p:sp>
      <p:pic>
        <p:nvPicPr>
          <p:cNvPr id="7" name="Image 0" descr="icons/bul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577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54406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pattern across all 11 studies: strong single-model or single-dataset accuracy gains, but explainability is usually bolted on to one "winning" model rather than compared across models, datasets, or lending contexts.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We Address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5" name="Image 0" descr="icons/search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848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Single-dataset validation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97280" y="2971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1, 3, 5, 6, 9, 10 each validate on one dataset (German credit, Home Credit, or a single P2P platform) — findings rarely transfer across lending environments.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9" name="Image 1" descr="icons/lay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848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applied late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37960" y="2971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(papers 1, 3, 5, 6, 7, 9) is typically bolted on to a single "winning" model after selection, not used to compare candidate models during development.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3" name="Image 2" descr="icons/balanc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879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Accuracy–interpretability trade-off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97280" y="5074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Deep/transformer models (papers 5, 10) push accuracy up but interpretability studies (paper 8) show this often comes at the cost of transparency for non-technical stakeholders.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7" name="Image 3" descr="icons/clipboar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879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decision-support layer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5074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of the surveyed work (papers 1–11) packages results into a dashboard loan officers can actually use — most stop at reporting Accuracy/F1/AUC tables.</a:t>
            </a:r>
            <a:endParaRPr lang="en-US" sz="103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Innovation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on the previous slide maps directly to a design decision in this project.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3327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6583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Single-dataset validation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benchmark datasets combined — Lending Club, Statlog German Credit, Home Credit — spanning traditional, classical, and thin-file/alternative lending.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applied late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and LIME are run across all five candidate models during comparison, not only on the final chosen model.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vs. interpretability trade-off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models spanning simple-to-complex (Logistic Regression → CatBoost) are benchmarked on the same metrics, letting stakeholders choose their own point on the trade-off curve.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decision-support layer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visualization dashboard (heatmaps, boxplots, feature-importance charts) turns model output into something a loan officer can act on, not just a metrics table.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578608"/>
            <a:ext cx="585216" cy="585216"/>
          </a:xfrm>
          <a:prstGeom prst="ellipse">
            <a:avLst/>
          </a:prstGeom>
          <a:solidFill>
            <a:srgbClr val="1B3358"/>
          </a:solidFill>
          <a:ln/>
        </p:spPr>
      </p:sp>
      <p:pic>
        <p:nvPicPr>
          <p:cNvPr id="6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7066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Benchmark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4288" y="2880360"/>
            <a:ext cx="3255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629814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77870" y="2578608"/>
            <a:ext cx="585216" cy="585216"/>
          </a:xfrm>
          <a:prstGeom prst="ellipse">
            <a:avLst/>
          </a:prstGeom>
          <a:solidFill>
            <a:srgbClr val="1B3358"/>
          </a:solidFill>
          <a:ln/>
        </p:spPr>
      </p:sp>
      <p:pic>
        <p:nvPicPr>
          <p:cNvPr id="11" name="Image 1" descr="icons/cog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598" y="27066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5534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EDA Techniques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1142" y="2880360"/>
            <a:ext cx="3255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436669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84725" y="2578608"/>
            <a:ext cx="585216" cy="585216"/>
          </a:xfrm>
          <a:prstGeom prst="ellipse">
            <a:avLst/>
          </a:prstGeom>
          <a:solidFill>
            <a:srgbClr val="1B3358"/>
          </a:solidFill>
          <a:ln/>
        </p:spPr>
      </p:sp>
      <p:pic>
        <p:nvPicPr>
          <p:cNvPr id="16" name="Image 2" descr="icons/lay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27066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2389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Selection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17997" y="2880360"/>
            <a:ext cx="3255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243523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91579" y="2578608"/>
            <a:ext cx="585216" cy="585216"/>
          </a:xfrm>
          <a:prstGeom prst="ellipse">
            <a:avLst/>
          </a:prstGeom>
          <a:solidFill>
            <a:srgbClr val="1B3358"/>
          </a:solidFill>
          <a:ln/>
        </p:spPr>
      </p:sp>
      <p:pic>
        <p:nvPicPr>
          <p:cNvPr id="21" name="Image 3" descr="icons/networ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07" y="270662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9243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(LR→CatBoost)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724851" y="2880360"/>
            <a:ext cx="3255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050378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98434" y="2578608"/>
            <a:ext cx="585216" cy="585216"/>
          </a:xfrm>
          <a:prstGeom prst="ellipse">
            <a:avLst/>
          </a:prstGeom>
          <a:solidFill>
            <a:srgbClr val="1B3358"/>
          </a:solidFill>
          <a:ln/>
        </p:spPr>
      </p:sp>
      <p:pic>
        <p:nvPicPr>
          <p:cNvPr id="26" name="Image 4" descr="icons/brain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162" y="270662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6098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531706" y="2880360"/>
            <a:ext cx="3255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9857232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C99A3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305288" y="2578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barcha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5016" y="270662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02952" y="32918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2296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on: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2286000" y="4480560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286000" y="4480560"/>
            <a:ext cx="104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3514954" y="4480560"/>
            <a:ext cx="1135685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514954" y="4480560"/>
            <a:ext cx="11356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833518" y="4480560"/>
            <a:ext cx="866851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33518" y="4480560"/>
            <a:ext cx="866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883250" y="4480560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883250" y="4480560"/>
            <a:ext cx="104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7112203" y="4480560"/>
            <a:ext cx="956462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112203" y="4480560"/>
            <a:ext cx="956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order: EDA and feature work happen before modelling so class-imbalance handling (SMOTE / class-weighting) and encoding decisions are grounded in the data, not assumed. Explainability runs on every candidate model so the final choice is transparent, not just accurate.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92808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6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025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Feasibility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are public, well-documented, and widely cited in credit-risk research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2862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size is large enough for robust train/test/validation splits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3255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known and addressable (SMOTE, class-weighting)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3" name="Image 1" descr="icons/cog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025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ML models (LR → CatBoost) have mature, well-supported Python libraries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37960" y="2862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are standard, actively maintained explainability toolkits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37960" y="3255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 achievable with existing plotting / BI tooling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1560" y="4133088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0" name="Image 2" descr="icons/mone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24281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097280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tools and free/public datasets — no licensing cost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97280" y="5102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student-grade hardware or free cloud notebook tiers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6364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92240" y="4133088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6" name="Image 3" descr="icons/calenda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4281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Feasibility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537960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fit the semester timeline with buffer before final submission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537960" y="5102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lets EDA, modelling, and XAI stages proceed in parallel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· POINT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057400"/>
            <a:ext cx="0" cy="4023360"/>
          </a:xfrm>
          <a:prstGeom prst="line">
            <a:avLst/>
          </a:prstGeom>
          <a:noFill/>
          <a:ln w="25400">
            <a:solidFill>
              <a:srgbClr val="DAD5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929384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819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Cleaning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184708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merge 3 datasets, handle missing values, duplicates, encoding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9304" y="2679192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96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569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23560" y="259689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techniques: univariate → multivariate, correlation, imbalance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9304" y="3429000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467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23560" y="334670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ratio, credit utilization, mutual information, RFE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9304" y="4178808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96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Comparison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23560" y="409651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LR, Decision Tree, Random Forest, XGBoost, CatBoost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9304" y="4928616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4818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Evaluation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23560" y="48463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analysis; Accuracy/Precision/Recall/F1/ROC-AUC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9304" y="5678424"/>
            <a:ext cx="256032" cy="256032"/>
          </a:xfrm>
          <a:prstGeom prst="ellipse">
            <a:avLst/>
          </a:prstGeom>
          <a:solidFill>
            <a:srgbClr val="C99A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96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5568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Final Reporting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23560" y="559612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visualization dashboard; consolidate findings for submission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5" name="Image 0" descr="icons/che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848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explainable prototype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97280" y="2971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loan-default risk with high accuracy while staying interpretable to non-technical banking stakeholders.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9" name="Image 1" descr="icons/user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848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regulator-ready decisions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37960" y="2971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explanations give every prediction a transparent, defensible reason — supporting compliance reviews.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3" name="Image 2" descr="icons/chartlin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879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NPAs, stronger portfolios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97280" y="5074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scalable pattern banks and NBFCs can adopt to strengthen underwriting and portfolio health.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7" name="Image 3" descr="icons/roa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879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DAV portfolio project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5074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current research in Credit Risk Modelling, Financial Data Mining, and Explainable AI.</a:t>
            </a:r>
            <a:endParaRPr lang="en-US" sz="103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566160"/>
            <a:ext cx="6583680" cy="6583680"/>
          </a:xfrm>
          <a:prstGeom prst="ellipse">
            <a:avLst/>
          </a:prstGeom>
          <a:ln w="12700">
            <a:solidFill>
              <a:srgbClr val="C99A3B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907792" y="3950208"/>
            <a:ext cx="5815584" cy="5815584"/>
          </a:xfrm>
          <a:prstGeom prst="ellipse">
            <a:avLst/>
          </a:prstGeom>
          <a:ln w="12700">
            <a:solidFill>
              <a:srgbClr val="5C7A99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23744" y="4334256"/>
            <a:ext cx="5047488" cy="5047488"/>
          </a:xfrm>
          <a:prstGeom prst="ellipse">
            <a:avLst/>
          </a:prstGeom>
          <a:ln w="12700">
            <a:solidFill>
              <a:srgbClr val="C99A3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39696" y="4718304"/>
            <a:ext cx="4279392" cy="4279392"/>
          </a:xfrm>
          <a:prstGeom prst="ellipse">
            <a:avLst/>
          </a:prstGeom>
          <a:ln w="12700">
            <a:solidFill>
              <a:srgbClr val="5C7A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755648" y="5102352"/>
            <a:ext cx="3511296" cy="3511296"/>
          </a:xfrm>
          <a:prstGeom prst="ellipse">
            <a:avLst/>
          </a:prstGeom>
          <a:ln w="12700">
            <a:solidFill>
              <a:srgbClr val="C99A3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Review-1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Default Prediction Using Banking Analytics  ·  Tejasree Sagiraju · Sruthi Bhatraju · B. Bhavya Sai Sree  ·  Guide: K. Swapnika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2026-08-08T07:06:07Z</dcterms:created>
  <dcterms:modified xsi:type="dcterms:W3CDTF">2026-08-08T07:06:07Z</dcterms:modified>
</cp:coreProperties>
</file>